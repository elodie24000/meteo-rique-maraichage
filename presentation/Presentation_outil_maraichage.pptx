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Poids maximal de chaque facteur dans l'indice (sur 100)</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indice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Le QR code renvoie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Aide</a:t>
            </a:r>
            <a:pPr indent="0" marL="0">
              <a:buNone/>
            </a:pPr>
            <a:r>
              <a:rPr lang="en-US" sz="4000" i="1" dirty="0">
                <a:solidFill>
                  <a:srgbClr val="D9C48E"/>
                </a:solidFill>
                <a:latin typeface="Cambria" pitchFamily="34" charset="0"/>
                <a:ea typeface="Cambria" pitchFamily="34" charset="-122"/>
                <a:cs typeface="Cambria" pitchFamily="34" charset="-120"/>
              </a:rPr>
              <a:t> au maraîchage</a:t>
            </a:r>
            <a:endParaRPr lang="en-US" sz="4000" dirty="0"/>
          </a:p>
        </p:txBody>
      </p:sp>
      <p:sp>
        <p:nvSpPr>
          <p:cNvPr id="3" name="Text 1"/>
          <p:cNvSpPr txBox="1"/>
          <p:nvPr/>
        </p:nvSpPr>
        <p:spPr>
          <a:xfrm>
            <a:off x="731520" y="2468880"/>
            <a:ext cx="6949440" cy="82296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Alertes maladies, densités de plantation, fertilisation et fiches légumes : le maraîchage bio dans votre téléphone</a:t>
            </a:r>
            <a:endParaRPr lang="en-US" sz="1800" dirty="0"/>
          </a:p>
        </p:txBody>
      </p:sp>
      <p:pic>
        <p:nvPicPr>
          <p:cNvPr id="4" name="Image 0" descr="/tmp/claude-0/-home-user-meteo-rique-maraichage/b1532ef0-43df-5182-881a-fa5cd25c2188/scratchpad/qr.png">    </p:cNvPr>
          <p:cNvPicPr>
            <a:picLocks noChangeAspect="1"/>
          </p:cNvPicPr>
          <p:nvPr/>
        </p:nvPicPr>
        <p:blipFill>
          <a:blip r:embed="rId1"/>
          <a:stretch>
            <a:fillRect/>
          </a:stretch>
        </p:blipFill>
        <p:spPr>
          <a:xfrm>
            <a:off x="731520" y="3566160"/>
            <a:ext cx="1051560" cy="1051560"/>
          </a:xfrm>
          <a:prstGeom prst="rect">
            <a:avLst/>
          </a:prstGeom>
        </p:spPr>
      </p:pic>
      <p:sp>
        <p:nvSpPr>
          <p:cNvPr id="5" name="Text 2"/>
          <p:cNvSpPr txBox="1"/>
          <p:nvPr/>
        </p:nvSpPr>
        <p:spPr>
          <a:xfrm>
            <a:off x="2011680" y="356616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6" name="Shape 3"/>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7" name="Image 1" descr="/tmp/claude-0/-home-user-meteo-rique-maraichage/b1532ef0-43df-5182-881a-fa5cd25c2188/scratchpad/shot-especes.png">    </p:cNvPr>
          <p:cNvPicPr>
            <a:picLocks noChangeAspect="1"/>
          </p:cNvPicPr>
          <p:nvPr/>
        </p:nvPicPr>
        <p:blipFill>
          <a:blip r:embed="rId2"/>
          <a:stretch>
            <a:fillRect/>
          </a:stretch>
        </p:blipFill>
        <p:spPr>
          <a:xfrm>
            <a:off x="8778240" y="822960"/>
            <a:ext cx="2606040" cy="5212080"/>
          </a:xfrm>
          <a:prstGeom prst="rect">
            <a:avLst/>
          </a:prstGeom>
        </p:spPr>
      </p:pic>
      <p:pic>
        <p:nvPicPr>
          <p:cNvPr id="9" name="Image 2" descr="/tmp/claude-0/-home-user-meteo-rique-maraichage/b1532ef0-43df-5182-881a-fa5cd25c2188/scratchpad/logo_sea_clair.png">    </p:cNvPr>
          <p:cNvPicPr>
            <a:picLocks noChangeAspect="1"/>
          </p:cNvPicPr>
          <p:nvPr/>
        </p:nvPicPr>
        <p:blipFill>
          <a:blip r:embed="rId3"/>
          <a:stretch>
            <a:fillRect/>
          </a:stretch>
        </p:blipFill>
        <p:spPr>
          <a:xfrm>
            <a:off x="731520" y="5760720"/>
            <a:ext cx="621499" cy="658368"/>
          </a:xfrm>
          <a:prstGeom prst="rect">
            <a:avLst/>
          </a:prstGeom>
        </p:spPr>
      </p:pic>
      <p:pic>
        <p:nvPicPr>
          <p:cNvPr id="10" name="Image 3" descr="/tmp/claude-0/-home-user-meteo-rique-maraichage/b1532ef0-43df-5182-881a-fa5cd25c2188/scratchpad/logo_inae_clair.png">    </p:cNvPr>
          <p:cNvPicPr>
            <a:picLocks noChangeAspect="1"/>
          </p:cNvPicPr>
          <p:nvPr/>
        </p:nvPicPr>
        <p:blipFill>
          <a:blip r:embed="rId4"/>
          <a:stretch>
            <a:fillRect/>
          </a:stretch>
        </p:blipFill>
        <p:spPr>
          <a:xfrm>
            <a:off x="1627339" y="5760720"/>
            <a:ext cx="1027588" cy="658368"/>
          </a:xfrm>
          <a:prstGeom prst="rect">
            <a:avLst/>
          </a:prstGeom>
        </p:spPr>
      </p:pic>
      <p:sp>
        <p:nvSpPr>
          <p:cNvPr id="11" name="Text 4"/>
          <p:cNvSpPr txBox="1"/>
          <p:nvPr/>
        </p:nvSpPr>
        <p:spPr>
          <a:xfrm>
            <a:off x="3020687" y="5687568"/>
            <a:ext cx="4572000" cy="8046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Élodie Plassin</a:t>
            </a:r>
            <a:endParaRPr lang="en-US" sz="1200" dirty="0"/>
          </a:p>
          <a:p>
            <a:pPr indent="0" marL="0">
              <a:buNone/>
            </a:pPr>
            <a:r>
              <a:rPr lang="en-US" sz="1200" dirty="0">
                <a:solidFill>
                  <a:srgbClr val="CFCBB8"/>
                </a:solidFill>
                <a:latin typeface="Calibri" pitchFamily="34" charset="0"/>
                <a:ea typeface="Calibri" pitchFamily="34" charset="-122"/>
                <a:cs typeface="Calibri" pitchFamily="34" charset="-120"/>
              </a:rPr>
              <a:t>Chargée de mission développement économique</a:t>
            </a:r>
            <a:endParaRPr lang="en-US" sz="1200" dirty="0"/>
          </a:p>
          <a:p>
            <a:pPr indent="0" marL="0">
              <a:buNone/>
            </a:pPr>
            <a:r>
              <a:rPr lang="en-US" sz="1200" dirty="0">
                <a:solidFill>
                  <a:srgbClr val="A8A48F"/>
                </a:solidFill>
                <a:latin typeface="Calibri" pitchFamily="34" charset="0"/>
                <a:ea typeface="Calibri" pitchFamily="34" charset="-122"/>
                <a:cs typeface="Calibri" pitchFamily="34" charset="-120"/>
              </a:rPr>
              <a:t>octobre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96596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2160270" y="2160270"/>
            <a:ext cx="388620" cy="388620"/>
          </a:xfrm>
          <a:prstGeom prst="rect">
            <a:avLst/>
          </a:prstGeom>
        </p:spPr>
      </p:pic>
      <p:sp>
        <p:nvSpPr>
          <p:cNvPr id="6" name="Text 3"/>
          <p:cNvSpPr txBox="1"/>
          <p:nvPr/>
        </p:nvSpPr>
        <p:spPr>
          <a:xfrm>
            <a:off x="91440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1440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566928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863590" y="2160270"/>
            <a:ext cx="388620" cy="388620"/>
          </a:xfrm>
          <a:prstGeom prst="rect">
            <a:avLst/>
          </a:prstGeom>
        </p:spPr>
      </p:pic>
      <p:sp>
        <p:nvSpPr>
          <p:cNvPr id="11" name="Text 7"/>
          <p:cNvSpPr txBox="1"/>
          <p:nvPr/>
        </p:nvSpPr>
        <p:spPr>
          <a:xfrm>
            <a:off x="461772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1772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37260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9566910" y="2160270"/>
            <a:ext cx="388620" cy="388620"/>
          </a:xfrm>
          <a:prstGeom prst="rect">
            <a:avLst/>
          </a:prstGeom>
        </p:spPr>
      </p:pic>
      <p:sp>
        <p:nvSpPr>
          <p:cNvPr id="16" name="Text 11"/>
          <p:cNvSpPr txBox="1"/>
          <p:nvPr/>
        </p:nvSpPr>
        <p:spPr>
          <a:xfrm>
            <a:off x="832104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2104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pic>
        <p:nvPicPr>
          <p:cNvPr id="20" name="Image 3" descr="/tmp/claude-0/-home-user-meteo-rique-maraichage/b1532ef0-43df-5182-881a-fa5cd25c2188/scratchpad/logo_inae.png">    </p:cNvPr>
          <p:cNvPicPr>
            <a:picLocks noChangeAspect="1"/>
          </p:cNvPicPr>
          <p:nvPr/>
        </p:nvPicPr>
        <p:blipFill>
          <a:blip r:embed="rId4"/>
          <a:stretch>
            <a:fillRect/>
          </a:stretch>
        </p:blipFill>
        <p:spPr>
          <a:xfrm>
            <a:off x="11150614" y="6355080"/>
            <a:ext cx="599426" cy="384048"/>
          </a:xfrm>
          <a:prstGeom prst="rect">
            <a:avLst/>
          </a:prstGeom>
        </p:spPr>
      </p:pic>
      <p:pic>
        <p:nvPicPr>
          <p:cNvPr id="21" name="Image 4" descr="/tmp/claude-0/-home-user-meteo-rique-maraichage/b1532ef0-43df-5182-881a-fa5cd25c2188/scratchpad/logo_sea.png">    </p:cNvPr>
          <p:cNvPicPr>
            <a:picLocks noChangeAspect="1"/>
          </p:cNvPicPr>
          <p:nvPr/>
        </p:nvPicPr>
        <p:blipFill>
          <a:blip r:embed="rId5"/>
          <a:stretch>
            <a:fillRect/>
          </a:stretch>
        </p:blipFill>
        <p:spPr>
          <a:xfrm>
            <a:off x="10650912" y="6355080"/>
            <a:ext cx="362541"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221742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40030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221742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40030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Indice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45770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64058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45770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64058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116568" y="1207008"/>
            <a:ext cx="2569464" cy="4992624"/>
          </a:xfrm>
          <a:prstGeom prst="roundRect">
            <a:avLst>
              <a:gd name="adj" fmla="val 711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89720" y="1280160"/>
            <a:ext cx="2423160" cy="4846320"/>
          </a:xfrm>
          <a:prstGeom prst="rect">
            <a:avLst/>
          </a:prstGeom>
        </p:spPr>
      </p:pic>
      <p:pic>
        <p:nvPicPr>
          <p:cNvPr id="26"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7"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Indice de risque</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pic>
        <p:nvPicPr>
          <p:cNvPr id="30"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31"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indice de risque, </a:t>
            </a:r>
            <a:pPr indent="0" marL="0">
              <a:buNone/>
            </a:pPr>
            <a:r>
              <a:rPr lang="en-US" sz="3600" i="1" dirty="0">
                <a:solidFill>
                  <a:srgbClr val="A0472A"/>
                </a:solidFill>
                <a:latin typeface="Cambria" pitchFamily="34" charset="0"/>
                <a:ea typeface="Cambria" pitchFamily="34" charset="-122"/>
                <a:cs typeface="Cambria" pitchFamily="34" charset="-120"/>
              </a:rPr>
              <a:t>jour par jour</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pic>
        <p:nvPicPr>
          <p:cNvPr id="21" name="Image 0"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1"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pic>
        <p:nvPicPr>
          <p:cNvPr id="21" name="Image 1"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2"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pic>
        <p:nvPicPr>
          <p:cNvPr id="20" name="Image 4"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1" name="Image 5"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classique.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pic>
        <p:nvPicPr>
          <p:cNvPr id="34" name="Image 6" descr="/tmp/claude-0/-home-user-meteo-rique-maraichage/b1532ef0-43df-5182-881a-fa5cd25c2188/scratchpad/logo_inae.png">    </p:cNvPr>
          <p:cNvPicPr>
            <a:picLocks noChangeAspect="1"/>
          </p:cNvPicPr>
          <p:nvPr/>
        </p:nvPicPr>
        <p:blipFill>
          <a:blip r:embed="rId7"/>
          <a:stretch>
            <a:fillRect/>
          </a:stretch>
        </p:blipFill>
        <p:spPr>
          <a:xfrm>
            <a:off x="11150614" y="6355080"/>
            <a:ext cx="599426" cy="384048"/>
          </a:xfrm>
          <a:prstGeom prst="rect">
            <a:avLst/>
          </a:prstGeom>
        </p:spPr>
      </p:pic>
      <p:pic>
        <p:nvPicPr>
          <p:cNvPr id="35" name="Image 7" descr="/tmp/claude-0/-home-user-meteo-rique-maraichage/b1532ef0-43df-5182-881a-fa5cd25c2188/scratchpad/logo_sea.png">    </p:cNvPr>
          <p:cNvPicPr>
            <a:picLocks noChangeAspect="1"/>
          </p:cNvPicPr>
          <p:nvPr/>
        </p:nvPicPr>
        <p:blipFill>
          <a:blip r:embed="rId8"/>
          <a:stretch>
            <a:fillRect/>
          </a:stretch>
        </p:blipFill>
        <p:spPr>
          <a:xfrm>
            <a:off x="10650912" y="6355080"/>
            <a:ext cx="362541"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pic>
        <p:nvPicPr>
          <p:cNvPr id="14" name="Image 2" descr="/tmp/claude-0/-home-user-meteo-rique-maraichage/b1532ef0-43df-5182-881a-fa5cd25c2188/scratchpad/logo_inae.png">    </p:cNvPr>
          <p:cNvPicPr>
            <a:picLocks noChangeAspect="1"/>
          </p:cNvPicPr>
          <p:nvPr/>
        </p:nvPicPr>
        <p:blipFill>
          <a:blip r:embed="rId3"/>
          <a:stretch>
            <a:fillRect/>
          </a:stretch>
        </p:blipFill>
        <p:spPr>
          <a:xfrm>
            <a:off x="11150614" y="6355080"/>
            <a:ext cx="599426" cy="384048"/>
          </a:xfrm>
          <a:prstGeom prst="rect">
            <a:avLst/>
          </a:prstGeom>
        </p:spPr>
      </p:pic>
      <p:pic>
        <p:nvPicPr>
          <p:cNvPr id="15" name="Image 3" descr="/tmp/claude-0/-home-user-meteo-rique-maraichage/b1532ef0-43df-5182-881a-fa5cd25c2188/scratchpad/logo_sea.png">    </p:cNvPr>
          <p:cNvPicPr>
            <a:picLocks noChangeAspect="1"/>
          </p:cNvPicPr>
          <p:nvPr/>
        </p:nvPicPr>
        <p:blipFill>
          <a:blip r:embed="rId4"/>
          <a:stretch>
            <a:fillRect/>
          </a:stretch>
        </p:blipFill>
        <p:spPr>
          <a:xfrm>
            <a:off x="10650912" y="6355080"/>
            <a:ext cx="362541" cy="3840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Impératif : trouver des partenariats (GAB, MAB, fermes, espaces test) et mener des tests utilisateurs.</a:t>
            </a:r>
            <a:endParaRPr lang="en-US" sz="1500" dirty="0"/>
          </a:p>
        </p:txBody>
      </p:sp>
      <p:pic>
        <p:nvPicPr>
          <p:cNvPr id="21" name="Image 4" descr="/tmp/claude-0/-home-user-meteo-rique-maraichage/b1532ef0-43df-5182-881a-fa5cd25c2188/scratchpad/logo_inae.png">    </p:cNvPr>
          <p:cNvPicPr>
            <a:picLocks noChangeAspect="1"/>
          </p:cNvPicPr>
          <p:nvPr/>
        </p:nvPicPr>
        <p:blipFill>
          <a:blip r:embed="rId5"/>
          <a:stretch>
            <a:fillRect/>
          </a:stretch>
        </p:blipFill>
        <p:spPr>
          <a:xfrm>
            <a:off x="11150614" y="6355080"/>
            <a:ext cx="599426" cy="384048"/>
          </a:xfrm>
          <a:prstGeom prst="rect">
            <a:avLst/>
          </a:prstGeom>
        </p:spPr>
      </p:pic>
      <p:pic>
        <p:nvPicPr>
          <p:cNvPr id="22" name="Image 5" descr="/tmp/claude-0/-home-user-meteo-rique-maraichage/b1532ef0-43df-5182-881a-fa5cd25c2188/scratchpad/logo_sea.png">    </p:cNvPr>
          <p:cNvPicPr>
            <a:picLocks noChangeAspect="1"/>
          </p:cNvPicPr>
          <p:nvPr/>
        </p:nvPicPr>
        <p:blipFill>
          <a:blip r:embed="rId6"/>
          <a:stretch>
            <a:fillRect/>
          </a:stretch>
        </p:blipFill>
        <p:spPr>
          <a:xfrm>
            <a:off x="10650912" y="6355080"/>
            <a:ext cx="362541"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Text 0"/>
          <p:cNvSpPr txBox="1"/>
          <p:nvPr/>
        </p:nvSpPr>
        <p:spPr>
          <a:xfrm>
            <a:off x="731520" y="137160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3" name="Text 1"/>
          <p:cNvSpPr txBox="1"/>
          <p:nvPr/>
        </p:nvSpPr>
        <p:spPr>
          <a:xfrm>
            <a:off x="731520" y="237744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Une application libre et gratuite, fondée sur des références scientifiques, au service des maraîchers et de la transition agroécologique des territoires.</a:t>
            </a:r>
            <a:endParaRPr lang="en-US" sz="1800" dirty="0"/>
          </a:p>
        </p:txBody>
      </p:sp>
      <p:pic>
        <p:nvPicPr>
          <p:cNvPr id="4" name="Image 0" descr="/tmp/claude-0/-home-user-meteo-rique-maraichage/b1532ef0-43df-5182-881a-fa5cd25c2188/scratchpad/qr.png">    </p:cNvPr>
          <p:cNvPicPr>
            <a:picLocks noChangeAspect="1"/>
          </p:cNvPicPr>
          <p:nvPr/>
        </p:nvPicPr>
        <p:blipFill>
          <a:blip r:embed="rId1"/>
          <a:stretch>
            <a:fillRect/>
          </a:stretch>
        </p:blipFill>
        <p:spPr>
          <a:xfrm>
            <a:off x="731520" y="3749040"/>
            <a:ext cx="1051560" cy="1051560"/>
          </a:xfrm>
          <a:prstGeom prst="rect">
            <a:avLst/>
          </a:prstGeom>
        </p:spPr>
      </p:pic>
      <p:sp>
        <p:nvSpPr>
          <p:cNvPr id="5" name="Text 2"/>
          <p:cNvSpPr txBox="1"/>
          <p:nvPr/>
        </p:nvSpPr>
        <p:spPr>
          <a:xfrm>
            <a:off x="2011680" y="374904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6" name="Shape 3"/>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7"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pic>
        <p:nvPicPr>
          <p:cNvPr id="9" name="Image 2" descr="/tmp/claude-0/-home-user-meteo-rique-maraichage/b1532ef0-43df-5182-881a-fa5cd25c2188/scratchpad/logo_sea_clair.png">    </p:cNvPr>
          <p:cNvPicPr>
            <a:picLocks noChangeAspect="1"/>
          </p:cNvPicPr>
          <p:nvPr/>
        </p:nvPicPr>
        <p:blipFill>
          <a:blip r:embed="rId3"/>
          <a:stretch>
            <a:fillRect/>
          </a:stretch>
        </p:blipFill>
        <p:spPr>
          <a:xfrm>
            <a:off x="731520" y="5760720"/>
            <a:ext cx="621499" cy="658368"/>
          </a:xfrm>
          <a:prstGeom prst="rect">
            <a:avLst/>
          </a:prstGeom>
        </p:spPr>
      </p:pic>
      <p:pic>
        <p:nvPicPr>
          <p:cNvPr id="10" name="Image 3" descr="/tmp/claude-0/-home-user-meteo-rique-maraichage/b1532ef0-43df-5182-881a-fa5cd25c2188/scratchpad/logo_inae_clair.png">    </p:cNvPr>
          <p:cNvPicPr>
            <a:picLocks noChangeAspect="1"/>
          </p:cNvPicPr>
          <p:nvPr/>
        </p:nvPicPr>
        <p:blipFill>
          <a:blip r:embed="rId4"/>
          <a:stretch>
            <a:fillRect/>
          </a:stretch>
        </p:blipFill>
        <p:spPr>
          <a:xfrm>
            <a:off x="1627339" y="5760720"/>
            <a:ext cx="1027588" cy="658368"/>
          </a:xfrm>
          <a:prstGeom prst="rect">
            <a:avLst/>
          </a:prstGeom>
        </p:spPr>
      </p:pic>
      <p:sp>
        <p:nvSpPr>
          <p:cNvPr id="11" name="Text 4"/>
          <p:cNvSpPr txBox="1"/>
          <p:nvPr/>
        </p:nvSpPr>
        <p:spPr>
          <a:xfrm>
            <a:off x="3020687" y="5760720"/>
            <a:ext cx="3657600" cy="658368"/>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Projet porté par Inaé, financé par le Fonds SEA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Aide au maraîchage</dc:title>
  <dc:subject>PptxGenJS Presentation</dc:subject>
  <dc:creator>Élodie Plassin</dc:creator>
  <cp:lastModifiedBy>Élodie Plassin</cp:lastModifiedBy>
  <cp:revision>1</cp:revision>
  <dcterms:created xsi:type="dcterms:W3CDTF">2026-10-05T09:44:07Z</dcterms:created>
  <dcterms:modified xsi:type="dcterms:W3CDTF">2026-10-05T09:44:07Z</dcterms:modified>
</cp:coreProperties>
</file>