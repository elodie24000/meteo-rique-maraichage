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6B6A5C"/>
                </a:solidFill>
                <a:latin typeface="Calibri"/>
              </a:defRPr>
            </a:pPr>
            <a:r>
              <a:rPr sz="1400" b="0" i="0" u="none" strike="noStrike">
                <a:solidFill>
                  <a:srgbClr val="6B6A5C"/>
                </a:solidFill>
                <a:latin typeface="Calibri"/>
              </a:rPr>
              <a:t>Contribution maximale au score (points)</a:t>
            </a:r>
          </a:p>
        </c:rich>
      </c:tx>
      <c:layout/>
      <c:overlay val="0"/>
    </c:title>
    <c:autoTitleDeleted val="0"/>
    <c:plotArea>
      <c:layout/>
      <c:barChart>
        <c:barDir val="bar"/>
        <c:grouping val="clustered"/>
        <c:varyColors val="0"/>
        <c:ser>
          <c:idx val="0"/>
          <c:order val="0"/>
          <c:tx>
            <c:strRef>
              <c:f>Sheet1!$B$1</c:f>
              <c:strCache>
                <c:ptCount val="1"/>
                <c:pt idx="0">
                  <c:v>Points max</c:v>
                </c:pt>
              </c:strCache>
            </c:strRef>
          </c:tx>
          <c:spPr>
            <a:solidFill>
              <a:srgbClr val="4A5E2E"/>
            </a:solidFill>
            <a:effectLst/>
          </c:spPr>
          <c:invertIfNegative val="0"/>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cat>
            <c:multiLvlStrRef>
              <c:f>Sheet1!$A$2:$A$6</c:f>
              <c:multiLvlStrCache>
                <c:ptCount val="5"/>
                <c:lvl>
                  <c:pt idx="0">
                    <c:v>Température optimale</c:v>
                  </c:pt>
                  <c:pt idx="1">
                    <c:v>Humidité relative critique</c:v>
                  </c:pt>
                  <c:pt idx="2">
                    <c:v>Humectation (eau libre)</c:v>
                  </c:pt>
                  <c:pt idx="3">
                    <c:v>Pluie &gt; 5 mm</c:v>
                  </c:pt>
                  <c:pt idx="4">
                    <c:v>Pression inoculaire (j-6 → j0)</c:v>
                  </c:pt>
                </c:lvl>
              </c:multiLvlStrCache>
            </c:multiLvlStrRef>
          </c:cat>
          <c:val>
            <c:numRef>
              <c:f>Sheet1!$B$2:$B$6</c:f>
              <c:numCache>
                <c:formatCode>General</c:formatCode>
                <c:ptCount val="5"/>
                <c:pt idx="0">
                  <c:v>40</c:v>
                </c:pt>
                <c:pt idx="1">
                  <c:v>30</c:v>
                </c:pt>
                <c:pt idx="2">
                  <c:v>20</c:v>
                </c:pt>
                <c:pt idx="3">
                  <c:v>10</c:v>
                </c:pt>
                <c:pt idx="4">
                  <c:v>15</c:v>
                </c:pt>
              </c:numCache>
            </c:numRef>
          </c:val>
        </c:ser>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2261C"/>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6B6A5C"/>
                </a:solidFill>
                <a:latin typeface="Arial"/>
              </a:defRPr>
            </a:pPr>
            <a:r>
              <a:rPr sz="1400" b="0" i="0" u="none" strike="noStrike">
                <a:solidFill>
                  <a:srgbClr val="6B6A5C"/>
                </a:solidFill>
                <a:latin typeface="Arial"/>
              </a:rPr>
              <a:t>Nombre d'espèces par famille</a:t>
            </a:r>
          </a:p>
        </c:rich>
      </c:tx>
      <c:layout/>
      <c:overlay val="0"/>
    </c:title>
    <c:autoTitleDeleted val="0"/>
    <c:plotArea>
      <c:layout/>
      <c:barChart>
        <c:barDir val="bar"/>
        <c:grouping val="clustered"/>
        <c:varyColors val="0"/>
        <c:ser>
          <c:idx val="0"/>
          <c:order val="0"/>
          <c:tx>
            <c:strRef>
              <c:f>Sheet1!$B$1</c:f>
              <c:strCache>
                <c:ptCount val="1"/>
                <c:pt idx="0">
                  <c:v>Espèces</c:v>
                </c:pt>
              </c:strCache>
            </c:strRef>
          </c:tx>
          <c:spPr>
            <a:solidFill>
              <a:srgbClr val="4A5E2E"/>
            </a:solidFill>
            <a:effectLst/>
          </c:spPr>
          <c:invertIfNegative val="0"/>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cat>
            <c:multiLvlStrRef>
              <c:f>Sheet1!$A$2:$A$9</c:f>
              <c:multiLvlStrCache>
                <c:ptCount val="8"/>
                <c:lvl>
                  <c:pt idx="0">
                    <c:v>Choux &amp; brassicacées</c:v>
                  </c:pt>
                  <c:pt idx="1">
                    <c:v>Légumineuses</c:v>
                  </c:pt>
                  <c:pt idx="2">
                    <c:v>Légumes-feuilles</c:v>
                  </c:pt>
                  <c:pt idx="3">
                    <c:v>Racines</c:v>
                  </c:pt>
                  <c:pt idx="4">
                    <c:v>Autres</c:v>
                  </c:pt>
                  <c:pt idx="5">
                    <c:v>Cucurbitacées</c:v>
                  </c:pt>
                  <c:pt idx="6">
                    <c:v>Solanacées</c:v>
                  </c:pt>
                  <c:pt idx="7">
                    <c:v>Alliacées</c:v>
                  </c:pt>
                </c:lvl>
              </c:multiLvlStrCache>
            </c:multiLvlStrRef>
          </c:cat>
          <c:val>
            <c:numRef>
              <c:f>Sheet1!$B$2:$B$9</c:f>
              <c:numCache>
                <c:formatCode>General</c:formatCode>
                <c:ptCount val="8"/>
                <c:pt idx="0">
                  <c:v>10</c:v>
                </c:pt>
                <c:pt idx="1">
                  <c:v>6</c:v>
                </c:pt>
                <c:pt idx="2">
                  <c:v>6</c:v>
                </c:pt>
                <c:pt idx="3">
                  <c:v>6</c:v>
                </c:pt>
                <c:pt idx="4">
                  <c:v>6</c:v>
                </c:pt>
                <c:pt idx="5">
                  <c:v>5</c:v>
                </c:pt>
                <c:pt idx="6">
                  <c:v>5</c:v>
                </c:pt>
                <c:pt idx="7">
                  <c:v>5</c:v>
                </c:pt>
              </c:numCache>
            </c:numRef>
          </c:val>
        </c:ser>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2261C"/>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Laisser cette diapo affichée en début de présentation pour que le public scanne le QR code. Accroche : un outil gratuit, sans compte, qui tient dans la poche du maraîcher. Présenter le contexte en une phrase : maraîchage bio, pépinière, adaptation au changement climatique.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Ancrer dans l'approche territoriale et environnementale : réduire les intrants (cuivre notamment) en ciblant les fenêtres de risque réelles. À compléter avec des chiffres locaux (pertes, nb de fermes maraîchères du territoire).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la navigation par onglets. Insister sur la simplicité : pas de compte, pas d'installation obligatoire.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Expliquer que l'outil ne mesure pas, il estime à partir de prévisions. La pression inoculaire des 6 jours passés est aussi prise en compte (bonus décroissant).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fort pour un public scientifique : l'algorithme est déterministe, lisible, et chaque score est justifié. Seuils volontairement prudents.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Vérifier les valeurs de l'exemple en direct dans l'app. Les densités de plantation (bio-intensif vs Agrosemens) sont dans les fiches espèces.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une fiche en démonstration (ex. tomate). Souligner les sources des préconisations.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Lien possible avec la dimension socio-économique : accessibilité pour les petites fermes, reproductibilité, low-tech.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Transparence méthodologique. Piste de validation : confronter les alertes aux observations de terrain sur une saison.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carnet de suivi n'est pas encore rattaché à une parcelle : il s'appuie sur les cultures sélectionnées dans l'app. Croisé avec l'historique des alertes, il permettra de vérifier dans le temps si les alertes justifiaient bien une intervention préventive. Préciser le calendrier envisagé.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 démonstration en direct. Préparer un QR code vers l'application.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3A1F"/>
        </a:solidFill>
      </p:bgPr>
    </p:bg>
    <p:spTree>
      <p:nvGrpSpPr>
        <p:cNvPr id="1" name=""/>
        <p:cNvGrpSpPr/>
        <p:nvPr/>
      </p:nvGrpSpPr>
      <p:grpSpPr>
        <a:xfrm>
          <a:off x="0" y="0"/>
          <a:ext cx="0" cy="0"/>
          <a:chOff x="0" y="0"/>
          <a:chExt cx="0" cy="0"/>
        </a:xfrm>
      </p:grpSpPr>
      <p:sp>
        <p:nvSpPr>
          <p:cNvPr id="2" name="Shape 0"/>
          <p:cNvSpPr/>
          <p:nvPr/>
        </p:nvSpPr>
        <p:spPr>
          <a:xfrm>
            <a:off x="731520" y="731520"/>
            <a:ext cx="914400" cy="914400"/>
          </a:xfrm>
          <a:prstGeom prst="ellipse">
            <a:avLst/>
          </a:prstGeom>
          <a:solidFill>
            <a:srgbClr val="B8892E"/>
          </a:solidFill>
          <a:ln w="12700">
            <a:solidFill>
              <a:srgbClr val="B8892E"/>
            </a:solidFill>
            <a:prstDash val="solid"/>
          </a:ln>
        </p:spPr>
      </p:sp>
      <p:pic>
        <p:nvPicPr>
          <p:cNvPr id="3" name="Image 0" descr="preencoded.png">    </p:cNvPr>
          <p:cNvPicPr>
            <a:picLocks noChangeAspect="1"/>
          </p:cNvPicPr>
          <p:nvPr/>
        </p:nvPicPr>
        <p:blipFill>
          <a:blip r:embed="rId1"/>
          <a:stretch>
            <a:fillRect/>
          </a:stretch>
        </p:blipFill>
        <p:spPr>
          <a:xfrm>
            <a:off x="960120" y="960120"/>
            <a:ext cx="457200" cy="457200"/>
          </a:xfrm>
          <a:prstGeom prst="rect">
            <a:avLst/>
          </a:prstGeom>
        </p:spPr>
      </p:pic>
      <p:sp>
        <p:nvSpPr>
          <p:cNvPr id="4" name="Text 1"/>
          <p:cNvSpPr txBox="1"/>
          <p:nvPr/>
        </p:nvSpPr>
        <p:spPr>
          <a:xfrm>
            <a:off x="731520" y="1920240"/>
            <a:ext cx="768096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Outil d'aide</a:t>
            </a:r>
            <a:pPr indent="0" marL="0">
              <a:buNone/>
            </a:pPr>
            <a:r>
              <a:rPr lang="en-US" sz="4000" i="1" dirty="0">
                <a:solidFill>
                  <a:srgbClr val="D9C48E"/>
                </a:solidFill>
                <a:latin typeface="Cambria" pitchFamily="34" charset="0"/>
                <a:ea typeface="Cambria" pitchFamily="34" charset="-122"/>
                <a:cs typeface="Cambria" pitchFamily="34" charset="-120"/>
              </a:rPr>
              <a:t> · au maraîchage</a:t>
            </a:r>
            <a:endParaRPr lang="en-US" sz="4000" dirty="0"/>
          </a:p>
        </p:txBody>
      </p:sp>
      <p:sp>
        <p:nvSpPr>
          <p:cNvPr id="5" name="Text 2"/>
          <p:cNvSpPr txBox="1"/>
          <p:nvPr/>
        </p:nvSpPr>
        <p:spPr>
          <a:xfrm>
            <a:off x="731520" y="3017520"/>
            <a:ext cx="6949440" cy="914400"/>
          </a:xfrm>
          <a:prstGeom prst="rect">
            <a:avLst/>
          </a:prstGeom>
          <a:noFill/>
          <a:ln/>
        </p:spPr>
        <p:txBody>
          <a:bodyPr wrap="square" lIns="0" tIns="0" rIns="0" bIns="0" rtlCol="0" anchor="ctr"/>
          <a:lstStyle/>
          <a:p>
            <a:pPr indent="0" marL="0">
              <a:buNone/>
            </a:pPr>
            <a:r>
              <a:rPr lang="en-US" sz="1800" dirty="0">
                <a:solidFill>
                  <a:srgbClr val="CFCBB8"/>
                </a:solidFill>
                <a:latin typeface="Calibri" pitchFamily="34" charset="0"/>
                <a:ea typeface="Calibri" pitchFamily="34" charset="-122"/>
                <a:cs typeface="Calibri" pitchFamily="34" charset="-120"/>
              </a:rPr>
              <a:t>Anticiper les maladies des cultures liées aux aléas climatiques — une application de poche pour le maraîchage biologique</a:t>
            </a:r>
            <a:endParaRPr lang="en-US" sz="1800" dirty="0"/>
          </a:p>
        </p:txBody>
      </p:sp>
      <p:pic>
        <p:nvPicPr>
          <p:cNvPr id="6" name="Image 1" descr="/tmp/claude-0/-home-user-meteo-rique-maraichage/b1532ef0-43df-5182-881a-fa5cd25c2188/scratchpad/qr.png">    </p:cNvPr>
          <p:cNvPicPr>
            <a:picLocks noChangeAspect="1"/>
          </p:cNvPicPr>
          <p:nvPr/>
        </p:nvPicPr>
        <p:blipFill>
          <a:blip r:embed="rId2"/>
          <a:stretch>
            <a:fillRect/>
          </a:stretch>
        </p:blipFill>
        <p:spPr>
          <a:xfrm>
            <a:off x="731520" y="4160520"/>
            <a:ext cx="1371600" cy="1371600"/>
          </a:xfrm>
          <a:prstGeom prst="rect">
            <a:avLst/>
          </a:prstGeom>
        </p:spPr>
      </p:pic>
      <p:sp>
        <p:nvSpPr>
          <p:cNvPr id="7" name="Text 3"/>
          <p:cNvSpPr txBox="1"/>
          <p:nvPr/>
        </p:nvSpPr>
        <p:spPr>
          <a:xfrm>
            <a:off x="2331720" y="4206240"/>
            <a:ext cx="6035040" cy="1280160"/>
          </a:xfrm>
          <a:prstGeom prst="rect">
            <a:avLst/>
          </a:prstGeom>
          <a:noFill/>
          <a:ln/>
        </p:spPr>
        <p:txBody>
          <a:bodyPr wrap="square" lIns="0" tIns="0" rIns="0" bIns="0" rtlCol="0" anchor="ctr"/>
          <a:lstStyle/>
          <a:p>
            <a:pPr indent="0" marL="0">
              <a:spcAft>
                <a:spcPts val="400"/>
              </a:spcAft>
              <a:buNone/>
            </a:pPr>
            <a:r>
              <a:rPr lang="en-US" sz="1700" b="1" dirty="0">
                <a:solidFill>
                  <a:srgbClr val="FFFFFF"/>
                </a:solidFill>
                <a:latin typeface="Calibri" pitchFamily="34" charset="0"/>
                <a:ea typeface="Calibri" pitchFamily="34" charset="-122"/>
                <a:cs typeface="Calibri" pitchFamily="34" charset="-120"/>
              </a:rPr>
              <a:t>Installer l'application</a:t>
            </a:r>
            <a:endParaRPr lang="en-US" sz="1700" dirty="0"/>
          </a:p>
          <a:p>
            <a:pPr indent="0" marL="0">
              <a:spcAft>
                <a:spcPts val="400"/>
              </a:spcAft>
              <a:buNone/>
            </a:pPr>
            <a:r>
              <a:rPr lang="en-US" sz="1700" dirty="0">
                <a:solidFill>
                  <a:srgbClr val="D9C48E"/>
                </a:solidFill>
                <a:latin typeface="Calibri" pitchFamily="34" charset="0"/>
                <a:ea typeface="Calibri" pitchFamily="34" charset="-122"/>
                <a:cs typeface="Calibri" pitchFamily="34" charset="-120"/>
              </a:rPr>
              <a:t>elodie24000.github.io/meteo-rique-maraichage</a:t>
            </a:r>
            <a:endParaRPr lang="en-US" sz="1700" dirty="0"/>
          </a:p>
          <a:p>
            <a:pPr indent="0" marL="0">
              <a:spcAft>
                <a:spcPts val="400"/>
              </a:spcAft>
              <a:buNone/>
            </a:pPr>
            <a:r>
              <a:rPr lang="en-US" sz="1300" dirty="0">
                <a:solidFill>
                  <a:srgbClr val="A8A48F"/>
                </a:solidFill>
                <a:latin typeface="Calibri" pitchFamily="34" charset="0"/>
                <a:ea typeface="Calibri" pitchFamily="34" charset="-122"/>
                <a:cs typeface="Calibri" pitchFamily="34" charset="-120"/>
              </a:rPr>
              <a:t>Scannez le QR code, puis « Ajouter à l'écran d'accueil »</a:t>
            </a:r>
            <a:endParaRPr lang="en-US" sz="1700" dirty="0"/>
          </a:p>
        </p:txBody>
      </p:sp>
      <p:sp>
        <p:nvSpPr>
          <p:cNvPr id="8" name="Text 4"/>
          <p:cNvSpPr txBox="1"/>
          <p:nvPr/>
        </p:nvSpPr>
        <p:spPr>
          <a:xfrm>
            <a:off x="731520" y="5852160"/>
            <a:ext cx="7315200" cy="365760"/>
          </a:xfrm>
          <a:prstGeom prst="rect">
            <a:avLst/>
          </a:prstGeom>
          <a:noFill/>
          <a:ln/>
        </p:spPr>
        <p:txBody>
          <a:bodyPr wrap="square" lIns="0" tIns="0" rIns="0" bIns="0" rtlCol="0" anchor="ctr"/>
          <a:lstStyle/>
          <a:p>
            <a:pPr indent="0" marL="0">
              <a:buNone/>
            </a:pPr>
            <a:r>
              <a:rPr lang="en-US" sz="1200" dirty="0">
                <a:solidFill>
                  <a:srgbClr val="A8A48F"/>
                </a:solidFill>
                <a:latin typeface="Calibri" pitchFamily="34" charset="0"/>
                <a:ea typeface="Calibri" pitchFamily="34" charset="-122"/>
                <a:cs typeface="Calibri" pitchFamily="34" charset="-120"/>
              </a:rPr>
              <a:t>Élodie Plassin · Présentation du logiciel · Brouillon · septembre 2026</a:t>
            </a:r>
            <a:endParaRPr lang="en-US" sz="1200" dirty="0"/>
          </a:p>
        </p:txBody>
      </p:sp>
      <p:sp>
        <p:nvSpPr>
          <p:cNvPr id="9" name="Shape 5"/>
          <p:cNvSpPr/>
          <p:nvPr/>
        </p:nvSpPr>
        <p:spPr>
          <a:xfrm>
            <a:off x="8705088" y="749808"/>
            <a:ext cx="2752344" cy="5358384"/>
          </a:xfrm>
          <a:prstGeom prst="roundRect">
            <a:avLst>
              <a:gd name="adj" fmla="val 6645"/>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10" name="Image 2" descr="/tmp/claude-0/-home-user-meteo-rique-maraichage/b1532ef0-43df-5182-881a-fa5cd25c2188/scratchpad/shot-especes.png">    </p:cNvPr>
          <p:cNvPicPr>
            <a:picLocks noChangeAspect="1"/>
          </p:cNvPicPr>
          <p:nvPr/>
        </p:nvPicPr>
        <p:blipFill>
          <a:blip r:embed="rId3"/>
          <a:stretch>
            <a:fillRect/>
          </a:stretch>
        </p:blipFill>
        <p:spPr>
          <a:xfrm>
            <a:off x="8778240" y="822960"/>
            <a:ext cx="2606040" cy="52120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Le constat </a:t>
            </a:r>
            <a:pPr indent="0" marL="0">
              <a:buNone/>
            </a:pPr>
            <a:r>
              <a:rPr lang="en-US" sz="3600" i="1" dirty="0">
                <a:solidFill>
                  <a:srgbClr val="A0472A"/>
                </a:solidFill>
                <a:latin typeface="Cambria" pitchFamily="34" charset="0"/>
                <a:ea typeface="Cambria" pitchFamily="34" charset="-122"/>
                <a:cs typeface="Cambria" pitchFamily="34" charset="-120"/>
              </a:rPr>
              <a:t>de terrain</a:t>
            </a:r>
            <a:endParaRPr lang="en-US" sz="3600" dirty="0"/>
          </a:p>
        </p:txBody>
      </p:sp>
      <p:sp>
        <p:nvSpPr>
          <p:cNvPr id="3" name="Shape 1"/>
          <p:cNvSpPr/>
          <p:nvPr/>
        </p:nvSpPr>
        <p:spPr>
          <a:xfrm>
            <a:off x="64008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60120" y="1965960"/>
            <a:ext cx="777240" cy="77724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1154430" y="2160270"/>
            <a:ext cx="388620" cy="388620"/>
          </a:xfrm>
          <a:prstGeom prst="rect">
            <a:avLst/>
          </a:prstGeom>
        </p:spPr>
      </p:pic>
      <p:sp>
        <p:nvSpPr>
          <p:cNvPr id="6" name="Text 3"/>
          <p:cNvSpPr txBox="1"/>
          <p:nvPr/>
        </p:nvSpPr>
        <p:spPr>
          <a:xfrm>
            <a:off x="960120" y="2971800"/>
            <a:ext cx="2834640" cy="73152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Aléas climatiques accrus</a:t>
            </a:r>
            <a:endParaRPr lang="en-US" sz="2000" dirty="0"/>
          </a:p>
        </p:txBody>
      </p:sp>
      <p:sp>
        <p:nvSpPr>
          <p:cNvPr id="7" name="Text 4"/>
          <p:cNvSpPr txBox="1"/>
          <p:nvPr/>
        </p:nvSpPr>
        <p:spPr>
          <a:xfrm>
            <a:off x="960120" y="3749040"/>
            <a:ext cx="2834640" cy="1645920"/>
          </a:xfrm>
          <a:prstGeom prst="rect">
            <a:avLst/>
          </a:prstGeom>
          <a:noFill/>
          <a:ln/>
        </p:spPr>
        <p:txBody>
          <a:bodyPr wrap="square" lIns="0" tIns="0" rIns="0" bIns="0" rtlCol="0" anchor="t"/>
          <a:lstStyle/>
          <a:p>
            <a:pPr indent="0" marL="0">
              <a:buNone/>
            </a:pPr>
            <a:r>
              <a:rPr lang="en-US" sz="1500" dirty="0">
                <a:solidFill>
                  <a:srgbClr val="6B6A5C"/>
                </a:solidFill>
                <a:latin typeface="Calibri" pitchFamily="34" charset="0"/>
                <a:ea typeface="Calibri" pitchFamily="34" charset="-122"/>
                <a:cs typeface="Calibri" pitchFamily="34" charset="-120"/>
              </a:rPr>
              <a:t>Épisodes humides et chaleurs précoces favorisent mildiou, oïdium, botrytis… souvent détectés trop tard.</a:t>
            </a:r>
            <a:endParaRPr lang="en-US" sz="1500" dirty="0"/>
          </a:p>
        </p:txBody>
      </p:sp>
      <p:sp>
        <p:nvSpPr>
          <p:cNvPr id="8" name="Shape 5"/>
          <p:cNvSpPr/>
          <p:nvPr/>
        </p:nvSpPr>
        <p:spPr>
          <a:xfrm>
            <a:off x="434340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4663440" y="1965960"/>
            <a:ext cx="777240" cy="77724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4857750" y="2160270"/>
            <a:ext cx="388620" cy="388620"/>
          </a:xfrm>
          <a:prstGeom prst="rect">
            <a:avLst/>
          </a:prstGeom>
        </p:spPr>
      </p:pic>
      <p:sp>
        <p:nvSpPr>
          <p:cNvPr id="11" name="Text 7"/>
          <p:cNvSpPr txBox="1"/>
          <p:nvPr/>
        </p:nvSpPr>
        <p:spPr>
          <a:xfrm>
            <a:off x="4663440" y="2971800"/>
            <a:ext cx="2834640" cy="73152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Outils d'aide coûteux</a:t>
            </a:r>
            <a:endParaRPr lang="en-US" sz="2000" dirty="0"/>
          </a:p>
        </p:txBody>
      </p:sp>
      <p:sp>
        <p:nvSpPr>
          <p:cNvPr id="12" name="Text 8"/>
          <p:cNvSpPr txBox="1"/>
          <p:nvPr/>
        </p:nvSpPr>
        <p:spPr>
          <a:xfrm>
            <a:off x="4663440" y="3749040"/>
            <a:ext cx="2834640" cy="1645920"/>
          </a:xfrm>
          <a:prstGeom prst="rect">
            <a:avLst/>
          </a:prstGeom>
          <a:noFill/>
          <a:ln/>
        </p:spPr>
        <p:txBody>
          <a:bodyPr wrap="square" lIns="0" tIns="0" rIns="0" bIns="0" rtlCol="0" anchor="t"/>
          <a:lstStyle/>
          <a:p>
            <a:pPr indent="0" marL="0">
              <a:buNone/>
            </a:pPr>
            <a:r>
              <a:rPr lang="en-US" sz="1500" dirty="0">
                <a:solidFill>
                  <a:srgbClr val="6B6A5C"/>
                </a:solidFill>
                <a:latin typeface="Calibri" pitchFamily="34" charset="0"/>
                <a:ea typeface="Calibri" pitchFamily="34" charset="-122"/>
                <a:cs typeface="Calibri" pitchFamily="34" charset="-120"/>
              </a:rPr>
              <a:t>Capteurs de terrain et abonnements (type Mileos®) peu accessibles aux petites fermes diversifiées.</a:t>
            </a:r>
            <a:endParaRPr lang="en-US" sz="1500" dirty="0"/>
          </a:p>
        </p:txBody>
      </p:sp>
      <p:sp>
        <p:nvSpPr>
          <p:cNvPr id="13" name="Shape 9"/>
          <p:cNvSpPr/>
          <p:nvPr/>
        </p:nvSpPr>
        <p:spPr>
          <a:xfrm>
            <a:off x="804672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8366760" y="1965960"/>
            <a:ext cx="777240" cy="77724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8561070" y="2160270"/>
            <a:ext cx="388620" cy="388620"/>
          </a:xfrm>
          <a:prstGeom prst="rect">
            <a:avLst/>
          </a:prstGeom>
        </p:spPr>
      </p:pic>
      <p:sp>
        <p:nvSpPr>
          <p:cNvPr id="16" name="Text 11"/>
          <p:cNvSpPr txBox="1"/>
          <p:nvPr/>
        </p:nvSpPr>
        <p:spPr>
          <a:xfrm>
            <a:off x="8366760" y="2971800"/>
            <a:ext cx="2834640" cy="73152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Savoirs dispersés</a:t>
            </a:r>
            <a:endParaRPr lang="en-US" sz="2000" dirty="0"/>
          </a:p>
        </p:txBody>
      </p:sp>
      <p:sp>
        <p:nvSpPr>
          <p:cNvPr id="17" name="Text 12"/>
          <p:cNvSpPr txBox="1"/>
          <p:nvPr/>
        </p:nvSpPr>
        <p:spPr>
          <a:xfrm>
            <a:off x="8366760" y="3749040"/>
            <a:ext cx="2834640" cy="1645920"/>
          </a:xfrm>
          <a:prstGeom prst="rect">
            <a:avLst/>
          </a:prstGeom>
          <a:noFill/>
          <a:ln/>
        </p:spPr>
        <p:txBody>
          <a:bodyPr wrap="square" lIns="0" tIns="0" rIns="0" bIns="0" rtlCol="0" anchor="t"/>
          <a:lstStyle/>
          <a:p>
            <a:pPr indent="0" marL="0">
              <a:buNone/>
            </a:pPr>
            <a:r>
              <a:rPr lang="en-US" sz="1500" dirty="0">
                <a:solidFill>
                  <a:srgbClr val="6B6A5C"/>
                </a:solidFill>
                <a:latin typeface="Calibri" pitchFamily="34" charset="0"/>
                <a:ea typeface="Calibri" pitchFamily="34" charset="-122"/>
                <a:cs typeface="Calibri" pitchFamily="34" charset="-120"/>
              </a:rPr>
              <a:t>Références techniques éparpillées entre GRAB, FNAB, INRAE, ITAB… difficiles à mobiliser au champ.</a:t>
            </a:r>
            <a:endParaRPr lang="en-US" sz="1500" dirty="0"/>
          </a:p>
        </p:txBody>
      </p:sp>
      <p:sp>
        <p:nvSpPr>
          <p:cNvPr id="18" name="Text 13"/>
          <p:cNvSpPr txBox="1"/>
          <p:nvPr/>
        </p:nvSpPr>
        <p:spPr>
          <a:xfrm>
            <a:off x="640080" y="5897880"/>
            <a:ext cx="10881360" cy="457200"/>
          </a:xfrm>
          <a:prstGeom prst="rect">
            <a:avLst/>
          </a:prstGeom>
          <a:noFill/>
          <a:ln/>
        </p:spPr>
        <p:txBody>
          <a:bodyPr wrap="square" lIns="0" tIns="0" rIns="0" bIns="0" rtlCol="0" anchor="ctr"/>
          <a:lstStyle/>
          <a:p>
            <a:pPr indent="0" marL="0">
              <a:buNone/>
            </a:pPr>
            <a:r>
              <a:rPr lang="en-US" sz="1600" i="1" dirty="0">
                <a:solidFill>
                  <a:srgbClr val="A0472A"/>
                </a:solidFill>
                <a:latin typeface="Calibri" pitchFamily="34" charset="0"/>
                <a:ea typeface="Calibri" pitchFamily="34" charset="-122"/>
                <a:cs typeface="Calibri" pitchFamily="34" charset="-120"/>
              </a:rPr>
              <a:t>Enjeu : passer d'une lutte curative à une protection préventive raisonnée, à l'échelle de la planche.</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Une application, </a:t>
            </a:r>
            <a:pPr indent="0" marL="0">
              <a:buNone/>
            </a:pPr>
            <a:r>
              <a:rPr lang="en-US" sz="3600" i="1" dirty="0">
                <a:solidFill>
                  <a:srgbClr val="A0472A"/>
                </a:solidFill>
                <a:latin typeface="Cambria" pitchFamily="34" charset="0"/>
                <a:ea typeface="Cambria" pitchFamily="34" charset="-122"/>
                <a:cs typeface="Cambria" pitchFamily="34" charset="-120"/>
              </a:rPr>
              <a:t>quatre modules</a:t>
            </a:r>
            <a:endParaRPr lang="en-US" sz="3600" dirty="0"/>
          </a:p>
        </p:txBody>
      </p:sp>
      <p:sp>
        <p:nvSpPr>
          <p:cNvPr id="3" name="Shape 1"/>
          <p:cNvSpPr/>
          <p:nvPr/>
        </p:nvSpPr>
        <p:spPr>
          <a:xfrm>
            <a:off x="640080" y="160020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1920240"/>
            <a:ext cx="731520" cy="73152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1097280" y="2103120"/>
            <a:ext cx="365760" cy="365760"/>
          </a:xfrm>
          <a:prstGeom prst="rect">
            <a:avLst/>
          </a:prstGeom>
        </p:spPr>
      </p:pic>
      <p:sp>
        <p:nvSpPr>
          <p:cNvPr id="6" name="Text 3"/>
          <p:cNvSpPr txBox="1"/>
          <p:nvPr/>
        </p:nvSpPr>
        <p:spPr>
          <a:xfrm>
            <a:off x="1828800" y="192024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Météo</a:t>
            </a:r>
            <a:endParaRPr lang="en-US" sz="1800" dirty="0"/>
          </a:p>
        </p:txBody>
      </p:sp>
      <p:sp>
        <p:nvSpPr>
          <p:cNvPr id="7" name="Text 4"/>
          <p:cNvSpPr txBox="1"/>
          <p:nvPr/>
        </p:nvSpPr>
        <p:spPr>
          <a:xfrm>
            <a:off x="1828800" y="242316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Prévisions Open-Meteo à 7 jours pour la parcelle (GPS ou commune).</a:t>
            </a:r>
            <a:endParaRPr lang="en-US" sz="1400" dirty="0"/>
          </a:p>
        </p:txBody>
      </p:sp>
      <p:sp>
        <p:nvSpPr>
          <p:cNvPr id="8" name="Shape 5"/>
          <p:cNvSpPr/>
          <p:nvPr/>
        </p:nvSpPr>
        <p:spPr>
          <a:xfrm>
            <a:off x="4572000" y="160020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4846320" y="1920240"/>
            <a:ext cx="731520" cy="73152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5029200" y="2103120"/>
            <a:ext cx="365760" cy="365760"/>
          </a:xfrm>
          <a:prstGeom prst="rect">
            <a:avLst/>
          </a:prstGeom>
        </p:spPr>
      </p:pic>
      <p:sp>
        <p:nvSpPr>
          <p:cNvPr id="11" name="Text 7"/>
          <p:cNvSpPr txBox="1"/>
          <p:nvPr/>
        </p:nvSpPr>
        <p:spPr>
          <a:xfrm>
            <a:off x="5760720" y="192024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Risques maladies</a:t>
            </a:r>
            <a:endParaRPr lang="en-US" sz="1800" dirty="0"/>
          </a:p>
        </p:txBody>
      </p:sp>
      <p:sp>
        <p:nvSpPr>
          <p:cNvPr id="12" name="Text 8"/>
          <p:cNvSpPr txBox="1"/>
          <p:nvPr/>
        </p:nvSpPr>
        <p:spPr>
          <a:xfrm>
            <a:off x="5760720" y="242316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Score de risque jour par jour pour 40 maladies, croisé avec les cultures.</a:t>
            </a:r>
            <a:endParaRPr lang="en-US" sz="1400" dirty="0"/>
          </a:p>
        </p:txBody>
      </p:sp>
      <p:sp>
        <p:nvSpPr>
          <p:cNvPr id="13" name="Shape 9"/>
          <p:cNvSpPr/>
          <p:nvPr/>
        </p:nvSpPr>
        <p:spPr>
          <a:xfrm>
            <a:off x="640080" y="384048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914400" y="4160520"/>
            <a:ext cx="731520" cy="73152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1097280" y="4343400"/>
            <a:ext cx="365760" cy="365760"/>
          </a:xfrm>
          <a:prstGeom prst="rect">
            <a:avLst/>
          </a:prstGeom>
        </p:spPr>
      </p:pic>
      <p:sp>
        <p:nvSpPr>
          <p:cNvPr id="16" name="Text 11"/>
          <p:cNvSpPr txBox="1"/>
          <p:nvPr/>
        </p:nvSpPr>
        <p:spPr>
          <a:xfrm>
            <a:off x="1828800" y="416052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Fertilisation</a:t>
            </a:r>
            <a:endParaRPr lang="en-US" sz="1800" dirty="0"/>
          </a:p>
        </p:txBody>
      </p:sp>
      <p:sp>
        <p:nvSpPr>
          <p:cNvPr id="17" name="Text 12"/>
          <p:cNvSpPr txBox="1"/>
          <p:nvPr/>
        </p:nvSpPr>
        <p:spPr>
          <a:xfrm>
            <a:off x="1828800" y="466344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Besoins N·P·K et compost ramenés à la surface de la planche.</a:t>
            </a:r>
            <a:endParaRPr lang="en-US" sz="1400" dirty="0"/>
          </a:p>
        </p:txBody>
      </p:sp>
      <p:sp>
        <p:nvSpPr>
          <p:cNvPr id="18" name="Shape 13"/>
          <p:cNvSpPr/>
          <p:nvPr/>
        </p:nvSpPr>
        <p:spPr>
          <a:xfrm>
            <a:off x="4572000" y="384048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9" name="Shape 14"/>
          <p:cNvSpPr/>
          <p:nvPr/>
        </p:nvSpPr>
        <p:spPr>
          <a:xfrm>
            <a:off x="4846320" y="4160520"/>
            <a:ext cx="731520" cy="731520"/>
          </a:xfrm>
          <a:prstGeom prst="ellipse">
            <a:avLst/>
          </a:prstGeom>
          <a:solidFill>
            <a:srgbClr val="2B3A1F"/>
          </a:solidFill>
          <a:ln w="12700">
            <a:solidFill>
              <a:srgbClr val="2B3A1F"/>
            </a:solidFill>
            <a:prstDash val="solid"/>
          </a:ln>
        </p:spPr>
      </p:sp>
      <p:pic>
        <p:nvPicPr>
          <p:cNvPr id="20" name="Image 3" descr="preencoded.png">    </p:cNvPr>
          <p:cNvPicPr>
            <a:picLocks noChangeAspect="1"/>
          </p:cNvPicPr>
          <p:nvPr/>
        </p:nvPicPr>
        <p:blipFill>
          <a:blip r:embed="rId4"/>
          <a:stretch>
            <a:fillRect/>
          </a:stretch>
        </p:blipFill>
        <p:spPr>
          <a:xfrm>
            <a:off x="5029200" y="4343400"/>
            <a:ext cx="365760" cy="365760"/>
          </a:xfrm>
          <a:prstGeom prst="rect">
            <a:avLst/>
          </a:prstGeom>
        </p:spPr>
      </p:pic>
      <p:sp>
        <p:nvSpPr>
          <p:cNvPr id="21" name="Text 15"/>
          <p:cNvSpPr txBox="1"/>
          <p:nvPr/>
        </p:nvSpPr>
        <p:spPr>
          <a:xfrm>
            <a:off x="5760720" y="416052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Fiches espèces</a:t>
            </a:r>
            <a:endParaRPr lang="en-US" sz="1800" dirty="0"/>
          </a:p>
        </p:txBody>
      </p:sp>
      <p:sp>
        <p:nvSpPr>
          <p:cNvPr id="22" name="Text 16"/>
          <p:cNvSpPr txBox="1"/>
          <p:nvPr/>
        </p:nvSpPr>
        <p:spPr>
          <a:xfrm>
            <a:off x="5760720" y="466344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49 légumes : semis, densités, maladies, ravageurs, biocontrôle.</a:t>
            </a:r>
            <a:endParaRPr lang="en-US" sz="1400" dirty="0"/>
          </a:p>
        </p:txBody>
      </p:sp>
      <p:sp>
        <p:nvSpPr>
          <p:cNvPr id="23" name="Shape 17"/>
          <p:cNvSpPr/>
          <p:nvPr/>
        </p:nvSpPr>
        <p:spPr>
          <a:xfrm>
            <a:off x="9070848" y="1207008"/>
            <a:ext cx="2706624" cy="5266944"/>
          </a:xfrm>
          <a:prstGeom prst="roundRect">
            <a:avLst>
              <a:gd name="adj" fmla="val 6757"/>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24" name="Image 4" descr="/tmp/claude-0/-home-user-meteo-rique-maraichage/b1532ef0-43df-5182-881a-fa5cd25c2188/scratchpad/shot-meteo.png">    </p:cNvPr>
          <p:cNvPicPr>
            <a:picLocks noChangeAspect="1"/>
          </p:cNvPicPr>
          <p:nvPr/>
        </p:nvPicPr>
        <p:blipFill>
          <a:blip r:embed="rId5"/>
          <a:stretch>
            <a:fillRect/>
          </a:stretch>
        </p:blipFill>
        <p:spPr>
          <a:xfrm>
            <a:off x="9144000" y="1280160"/>
            <a:ext cx="2560320" cy="512064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Comment naissent </a:t>
            </a:r>
            <a:pPr indent="0" marL="0">
              <a:buNone/>
            </a:pPr>
            <a:r>
              <a:rPr lang="en-US" sz="3600" i="1" dirty="0">
                <a:solidFill>
                  <a:srgbClr val="A0472A"/>
                </a:solidFill>
                <a:latin typeface="Cambria" pitchFamily="34" charset="0"/>
                <a:ea typeface="Cambria" pitchFamily="34" charset="-122"/>
                <a:cs typeface="Cambria" pitchFamily="34" charset="-120"/>
              </a:rPr>
              <a:t>les alertes</a:t>
            </a:r>
            <a:endParaRPr lang="en-US" sz="3600" dirty="0"/>
          </a:p>
        </p:txBody>
      </p:sp>
      <p:sp>
        <p:nvSpPr>
          <p:cNvPr id="3" name="Shape 1"/>
          <p:cNvSpPr/>
          <p:nvPr/>
        </p:nvSpPr>
        <p:spPr>
          <a:xfrm>
            <a:off x="1188720" y="1828800"/>
            <a:ext cx="914400" cy="914400"/>
          </a:xfrm>
          <a:prstGeom prst="ellipse">
            <a:avLst/>
          </a:prstGeom>
          <a:solidFill>
            <a:srgbClr val="2B3A1F"/>
          </a:solidFill>
          <a:ln w="12700">
            <a:solidFill>
              <a:srgbClr val="2B3A1F"/>
            </a:solidFill>
            <a:prstDash val="solid"/>
          </a:ln>
        </p:spPr>
      </p:sp>
      <p:pic>
        <p:nvPicPr>
          <p:cNvPr id="4" name="Image 0" descr="preencoded.png">    </p:cNvPr>
          <p:cNvPicPr>
            <a:picLocks noChangeAspect="1"/>
          </p:cNvPicPr>
          <p:nvPr/>
        </p:nvPicPr>
        <p:blipFill>
          <a:blip r:embed="rId1"/>
          <a:stretch>
            <a:fillRect/>
          </a:stretch>
        </p:blipFill>
        <p:spPr>
          <a:xfrm>
            <a:off x="1417320" y="2057400"/>
            <a:ext cx="457200" cy="457200"/>
          </a:xfrm>
          <a:prstGeom prst="rect">
            <a:avLst/>
          </a:prstGeom>
        </p:spPr>
      </p:pic>
      <p:sp>
        <p:nvSpPr>
          <p:cNvPr id="5" name="Shape 2"/>
          <p:cNvSpPr/>
          <p:nvPr/>
        </p:nvSpPr>
        <p:spPr>
          <a:xfrm>
            <a:off x="2240280" y="2286000"/>
            <a:ext cx="548640" cy="0"/>
          </a:xfrm>
          <a:prstGeom prst="line">
            <a:avLst/>
          </a:prstGeom>
          <a:noFill/>
          <a:ln w="25400">
            <a:solidFill>
              <a:srgbClr val="B8892E"/>
            </a:solidFill>
            <a:prstDash val="solid"/>
            <a:tailEnd type="triangle"/>
          </a:ln>
        </p:spPr>
      </p:sp>
      <p:sp>
        <p:nvSpPr>
          <p:cNvPr id="6" name="Text 3"/>
          <p:cNvSpPr txBox="1"/>
          <p:nvPr/>
        </p:nvSpPr>
        <p:spPr>
          <a:xfrm>
            <a:off x="59436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1. Localisation</a:t>
            </a:r>
            <a:endParaRPr lang="en-US" sz="1500" dirty="0"/>
          </a:p>
        </p:txBody>
      </p:sp>
      <p:sp>
        <p:nvSpPr>
          <p:cNvPr id="7" name="Text 4"/>
          <p:cNvSpPr txBox="1"/>
          <p:nvPr/>
        </p:nvSpPr>
        <p:spPr>
          <a:xfrm>
            <a:off x="64008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GPS ou commune, stockée sur l'appareil</a:t>
            </a:r>
            <a:endParaRPr lang="en-US" sz="1300" dirty="0"/>
          </a:p>
        </p:txBody>
      </p:sp>
      <p:sp>
        <p:nvSpPr>
          <p:cNvPr id="8" name="Shape 5"/>
          <p:cNvSpPr/>
          <p:nvPr/>
        </p:nvSpPr>
        <p:spPr>
          <a:xfrm>
            <a:off x="3429000" y="1828800"/>
            <a:ext cx="914400" cy="914400"/>
          </a:xfrm>
          <a:prstGeom prst="ellipse">
            <a:avLst/>
          </a:prstGeom>
          <a:solidFill>
            <a:srgbClr val="2B3A1F"/>
          </a:solidFill>
          <a:ln w="12700">
            <a:solidFill>
              <a:srgbClr val="2B3A1F"/>
            </a:solidFill>
            <a:prstDash val="solid"/>
          </a:ln>
        </p:spPr>
      </p:sp>
      <p:pic>
        <p:nvPicPr>
          <p:cNvPr id="9" name="Image 1" descr="preencoded.png">    </p:cNvPr>
          <p:cNvPicPr>
            <a:picLocks noChangeAspect="1"/>
          </p:cNvPicPr>
          <p:nvPr/>
        </p:nvPicPr>
        <p:blipFill>
          <a:blip r:embed="rId2"/>
          <a:stretch>
            <a:fillRect/>
          </a:stretch>
        </p:blipFill>
        <p:spPr>
          <a:xfrm>
            <a:off x="3657600" y="2057400"/>
            <a:ext cx="457200" cy="457200"/>
          </a:xfrm>
          <a:prstGeom prst="rect">
            <a:avLst/>
          </a:prstGeom>
        </p:spPr>
      </p:pic>
      <p:sp>
        <p:nvSpPr>
          <p:cNvPr id="10" name="Shape 6"/>
          <p:cNvSpPr/>
          <p:nvPr/>
        </p:nvSpPr>
        <p:spPr>
          <a:xfrm>
            <a:off x="4480560" y="2286000"/>
            <a:ext cx="548640" cy="0"/>
          </a:xfrm>
          <a:prstGeom prst="line">
            <a:avLst/>
          </a:prstGeom>
          <a:noFill/>
          <a:ln w="25400">
            <a:solidFill>
              <a:srgbClr val="B8892E"/>
            </a:solidFill>
            <a:prstDash val="solid"/>
            <a:tailEnd type="triangle"/>
          </a:ln>
        </p:spPr>
      </p:sp>
      <p:sp>
        <p:nvSpPr>
          <p:cNvPr id="11" name="Text 7"/>
          <p:cNvSpPr txBox="1"/>
          <p:nvPr/>
        </p:nvSpPr>
        <p:spPr>
          <a:xfrm>
            <a:off x="283464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2. Prévisions 7 j</a:t>
            </a:r>
            <a:endParaRPr lang="en-US" sz="1500" dirty="0"/>
          </a:p>
        </p:txBody>
      </p:sp>
      <p:sp>
        <p:nvSpPr>
          <p:cNvPr id="12" name="Text 8"/>
          <p:cNvSpPr txBox="1"/>
          <p:nvPr/>
        </p:nvSpPr>
        <p:spPr>
          <a:xfrm>
            <a:off x="288036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T°, humidité horaire, pluie (Open-Meteo)</a:t>
            </a:r>
            <a:endParaRPr lang="en-US" sz="1300" dirty="0"/>
          </a:p>
        </p:txBody>
      </p:sp>
      <p:sp>
        <p:nvSpPr>
          <p:cNvPr id="13" name="Shape 9"/>
          <p:cNvSpPr/>
          <p:nvPr/>
        </p:nvSpPr>
        <p:spPr>
          <a:xfrm>
            <a:off x="5669280" y="1828800"/>
            <a:ext cx="914400" cy="914400"/>
          </a:xfrm>
          <a:prstGeom prst="ellipse">
            <a:avLst/>
          </a:prstGeom>
          <a:solidFill>
            <a:srgbClr val="2B3A1F"/>
          </a:solidFill>
          <a:ln w="12700">
            <a:solidFill>
              <a:srgbClr val="2B3A1F"/>
            </a:solidFill>
            <a:prstDash val="solid"/>
          </a:ln>
        </p:spPr>
      </p:sp>
      <p:pic>
        <p:nvPicPr>
          <p:cNvPr id="14" name="Image 2" descr="preencoded.png">    </p:cNvPr>
          <p:cNvPicPr>
            <a:picLocks noChangeAspect="1"/>
          </p:cNvPicPr>
          <p:nvPr/>
        </p:nvPicPr>
        <p:blipFill>
          <a:blip r:embed="rId3"/>
          <a:stretch>
            <a:fillRect/>
          </a:stretch>
        </p:blipFill>
        <p:spPr>
          <a:xfrm>
            <a:off x="5897880" y="2057400"/>
            <a:ext cx="457200" cy="457200"/>
          </a:xfrm>
          <a:prstGeom prst="rect">
            <a:avLst/>
          </a:prstGeom>
        </p:spPr>
      </p:pic>
      <p:sp>
        <p:nvSpPr>
          <p:cNvPr id="15" name="Shape 10"/>
          <p:cNvSpPr/>
          <p:nvPr/>
        </p:nvSpPr>
        <p:spPr>
          <a:xfrm>
            <a:off x="6720840" y="2286000"/>
            <a:ext cx="548640" cy="0"/>
          </a:xfrm>
          <a:prstGeom prst="line">
            <a:avLst/>
          </a:prstGeom>
          <a:noFill/>
          <a:ln w="25400">
            <a:solidFill>
              <a:srgbClr val="B8892E"/>
            </a:solidFill>
            <a:prstDash val="solid"/>
            <a:tailEnd type="triangle"/>
          </a:ln>
        </p:spPr>
      </p:sp>
      <p:sp>
        <p:nvSpPr>
          <p:cNvPr id="16" name="Text 11"/>
          <p:cNvSpPr txBox="1"/>
          <p:nvPr/>
        </p:nvSpPr>
        <p:spPr>
          <a:xfrm>
            <a:off x="507492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3. Indicateurs</a:t>
            </a:r>
            <a:endParaRPr lang="en-US" sz="1500" dirty="0"/>
          </a:p>
        </p:txBody>
      </p:sp>
      <p:sp>
        <p:nvSpPr>
          <p:cNvPr id="17" name="Text 12"/>
          <p:cNvSpPr txBox="1"/>
          <p:nvPr/>
        </p:nvSpPr>
        <p:spPr>
          <a:xfrm>
            <a:off x="512064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Heures HR ≥ 85/90/95 %, humectation, cumul pluie</a:t>
            </a:r>
            <a:endParaRPr lang="en-US" sz="1300" dirty="0"/>
          </a:p>
        </p:txBody>
      </p:sp>
      <p:sp>
        <p:nvSpPr>
          <p:cNvPr id="18" name="Shape 13"/>
          <p:cNvSpPr/>
          <p:nvPr/>
        </p:nvSpPr>
        <p:spPr>
          <a:xfrm>
            <a:off x="7909560" y="1828800"/>
            <a:ext cx="914400" cy="914400"/>
          </a:xfrm>
          <a:prstGeom prst="ellipse">
            <a:avLst/>
          </a:prstGeom>
          <a:solidFill>
            <a:srgbClr val="2B3A1F"/>
          </a:solidFill>
          <a:ln w="12700">
            <a:solidFill>
              <a:srgbClr val="2B3A1F"/>
            </a:solidFill>
            <a:prstDash val="solid"/>
          </a:ln>
        </p:spPr>
      </p:sp>
      <p:pic>
        <p:nvPicPr>
          <p:cNvPr id="19" name="Image 3" descr="preencoded.png">    </p:cNvPr>
          <p:cNvPicPr>
            <a:picLocks noChangeAspect="1"/>
          </p:cNvPicPr>
          <p:nvPr/>
        </p:nvPicPr>
        <p:blipFill>
          <a:blip r:embed="rId4"/>
          <a:stretch>
            <a:fillRect/>
          </a:stretch>
        </p:blipFill>
        <p:spPr>
          <a:xfrm>
            <a:off x="8138160" y="2057400"/>
            <a:ext cx="457200" cy="457200"/>
          </a:xfrm>
          <a:prstGeom prst="rect">
            <a:avLst/>
          </a:prstGeom>
        </p:spPr>
      </p:pic>
      <p:sp>
        <p:nvSpPr>
          <p:cNvPr id="20" name="Shape 14"/>
          <p:cNvSpPr/>
          <p:nvPr/>
        </p:nvSpPr>
        <p:spPr>
          <a:xfrm>
            <a:off x="8961120" y="2286000"/>
            <a:ext cx="548640" cy="0"/>
          </a:xfrm>
          <a:prstGeom prst="line">
            <a:avLst/>
          </a:prstGeom>
          <a:noFill/>
          <a:ln w="25400">
            <a:solidFill>
              <a:srgbClr val="B8892E"/>
            </a:solidFill>
            <a:prstDash val="solid"/>
            <a:tailEnd type="triangle"/>
          </a:ln>
        </p:spPr>
      </p:sp>
      <p:sp>
        <p:nvSpPr>
          <p:cNvPr id="21" name="Text 15"/>
          <p:cNvSpPr txBox="1"/>
          <p:nvPr/>
        </p:nvSpPr>
        <p:spPr>
          <a:xfrm>
            <a:off x="731520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4. Seuils maladies</a:t>
            </a:r>
            <a:endParaRPr lang="en-US" sz="1500" dirty="0"/>
          </a:p>
        </p:txBody>
      </p:sp>
      <p:sp>
        <p:nvSpPr>
          <p:cNvPr id="22" name="Text 16"/>
          <p:cNvSpPr txBox="1"/>
          <p:nvPr/>
        </p:nvSpPr>
        <p:spPr>
          <a:xfrm>
            <a:off x="736092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40 profils : T° optimale, HR critique, eau libre</a:t>
            </a:r>
            <a:endParaRPr lang="en-US" sz="1300" dirty="0"/>
          </a:p>
        </p:txBody>
      </p:sp>
      <p:sp>
        <p:nvSpPr>
          <p:cNvPr id="23" name="Shape 17"/>
          <p:cNvSpPr/>
          <p:nvPr/>
        </p:nvSpPr>
        <p:spPr>
          <a:xfrm>
            <a:off x="10149840" y="1828800"/>
            <a:ext cx="914400" cy="914400"/>
          </a:xfrm>
          <a:prstGeom prst="ellipse">
            <a:avLst/>
          </a:prstGeom>
          <a:solidFill>
            <a:srgbClr val="A0472A"/>
          </a:solidFill>
          <a:ln w="12700">
            <a:solidFill>
              <a:srgbClr val="A0472A"/>
            </a:solidFill>
            <a:prstDash val="solid"/>
          </a:ln>
        </p:spPr>
      </p:sp>
      <p:pic>
        <p:nvPicPr>
          <p:cNvPr id="24" name="Image 4" descr="preencoded.png">    </p:cNvPr>
          <p:cNvPicPr>
            <a:picLocks noChangeAspect="1"/>
          </p:cNvPicPr>
          <p:nvPr/>
        </p:nvPicPr>
        <p:blipFill>
          <a:blip r:embed="rId5"/>
          <a:stretch>
            <a:fillRect/>
          </a:stretch>
        </p:blipFill>
        <p:spPr>
          <a:xfrm>
            <a:off x="10378440" y="2057400"/>
            <a:ext cx="457200" cy="457200"/>
          </a:xfrm>
          <a:prstGeom prst="rect">
            <a:avLst/>
          </a:prstGeom>
        </p:spPr>
      </p:pic>
      <p:sp>
        <p:nvSpPr>
          <p:cNvPr id="25" name="Text 18"/>
          <p:cNvSpPr txBox="1"/>
          <p:nvPr/>
        </p:nvSpPr>
        <p:spPr>
          <a:xfrm>
            <a:off x="955548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5. Score 0–100</a:t>
            </a:r>
            <a:endParaRPr lang="en-US" sz="1500" dirty="0"/>
          </a:p>
        </p:txBody>
      </p:sp>
      <p:sp>
        <p:nvSpPr>
          <p:cNvPr id="26" name="Text 19"/>
          <p:cNvSpPr txBox="1"/>
          <p:nvPr/>
        </p:nvSpPr>
        <p:spPr>
          <a:xfrm>
            <a:off x="960120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Niveau faible / modéré / élevé + actions</a:t>
            </a:r>
            <a:endParaRPr lang="en-US" sz="1300" dirty="0"/>
          </a:p>
        </p:txBody>
      </p:sp>
      <p:sp>
        <p:nvSpPr>
          <p:cNvPr id="27" name="Shape 20"/>
          <p:cNvSpPr/>
          <p:nvPr/>
        </p:nvSpPr>
        <p:spPr>
          <a:xfrm>
            <a:off x="640080" y="4754880"/>
            <a:ext cx="10881360" cy="1371600"/>
          </a:xfrm>
          <a:prstGeom prst="roundRect">
            <a:avLst>
              <a:gd name="adj" fmla="val 8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8" name="Text 21"/>
          <p:cNvSpPr txBox="1"/>
          <p:nvPr/>
        </p:nvSpPr>
        <p:spPr>
          <a:xfrm>
            <a:off x="914400" y="4892040"/>
            <a:ext cx="10332720" cy="1097280"/>
          </a:xfrm>
          <a:prstGeom prst="rect">
            <a:avLst/>
          </a:prstGeom>
          <a:noFill/>
          <a:ln/>
        </p:spPr>
        <p:txBody>
          <a:bodyPr wrap="square" lIns="0" tIns="0" rIns="0" bIns="0" rtlCol="0" anchor="ctr"/>
          <a:lstStyle/>
          <a:p>
            <a:pPr indent="0" marL="0">
              <a:buNone/>
            </a:pPr>
            <a:r>
              <a:rPr lang="en-US" sz="1500" b="1" dirty="0">
                <a:solidFill>
                  <a:srgbClr val="2B3A1F"/>
                </a:solidFill>
                <a:latin typeface="Calibri" pitchFamily="34" charset="0"/>
                <a:ea typeface="Calibri" pitchFamily="34" charset="-122"/>
                <a:cs typeface="Calibri" pitchFamily="34" charset="-120"/>
              </a:rPr>
              <a:t>Exemple — Mildiou de la tomate (Phytophthora infestans) : </a:t>
            </a:r>
            <a:pPr indent="0" marL="0">
              <a:buNone/>
            </a:pPr>
            <a:r>
              <a:rPr lang="en-US" sz="1500" dirty="0">
                <a:solidFill>
                  <a:srgbClr val="22261C"/>
                </a:solidFill>
                <a:latin typeface="Calibri" pitchFamily="34" charset="0"/>
                <a:ea typeface="Calibri" pitchFamily="34" charset="-122"/>
                <a:cs typeface="Calibri" pitchFamily="34" charset="-120"/>
              </a:rPr>
              <a:t>T° 17–20 °C + HR &gt; 90 % pendant &gt; 12 h + feuillage humide ≥ 2 h → risque élevé, intervention préventive au cuivre sous 48 h.</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Un score </a:t>
            </a:r>
            <a:pPr indent="0" marL="0">
              <a:buNone/>
            </a:pPr>
            <a:r>
              <a:rPr lang="en-US" sz="3600" i="1" dirty="0">
                <a:solidFill>
                  <a:srgbClr val="A0472A"/>
                </a:solidFill>
                <a:latin typeface="Cambria" pitchFamily="34" charset="0"/>
                <a:ea typeface="Cambria" pitchFamily="34" charset="-122"/>
                <a:cs typeface="Cambria" pitchFamily="34" charset="-120"/>
              </a:rPr>
              <a:t>transparent et explicable</a:t>
            </a:r>
            <a:endParaRPr lang="en-US" sz="3600" dirty="0"/>
          </a:p>
        </p:txBody>
      </p:sp>
      <p:graphicFrame>
        <p:nvGraphicFramePr>
          <p:cNvPr id="3" name="Chart 0" descr=""/>
          <p:cNvGraphicFramePr/>
          <p:nvPr/>
        </p:nvGraphicFramePr>
        <p:xfrm>
          <a:off x="457200" y="1371600"/>
          <a:ext cx="6583680" cy="448056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498080" y="155448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5" name="Shape 2"/>
          <p:cNvSpPr/>
          <p:nvPr/>
        </p:nvSpPr>
        <p:spPr>
          <a:xfrm>
            <a:off x="7680960" y="1737360"/>
            <a:ext cx="1371600" cy="822960"/>
          </a:xfrm>
          <a:prstGeom prst="roundRect">
            <a:avLst>
              <a:gd name="adj" fmla="val 11111"/>
            </a:avLst>
          </a:prstGeom>
          <a:solidFill>
            <a:srgbClr val="A0472A"/>
          </a:solidFill>
          <a:ln w="12700">
            <a:solidFill>
              <a:srgbClr val="A0472A"/>
            </a:solidFill>
            <a:prstDash val="solid"/>
          </a:ln>
        </p:spPr>
      </p:sp>
      <p:sp>
        <p:nvSpPr>
          <p:cNvPr id="6" name="Text 3"/>
          <p:cNvSpPr txBox="1"/>
          <p:nvPr/>
        </p:nvSpPr>
        <p:spPr>
          <a:xfrm>
            <a:off x="7680960" y="173736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 70</a:t>
            </a:r>
            <a:endParaRPr lang="en-US" sz="2200" dirty="0"/>
          </a:p>
        </p:txBody>
      </p:sp>
      <p:sp>
        <p:nvSpPr>
          <p:cNvPr id="7" name="Text 4"/>
          <p:cNvSpPr txBox="1"/>
          <p:nvPr/>
        </p:nvSpPr>
        <p:spPr>
          <a:xfrm>
            <a:off x="9235440" y="175564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élevé</a:t>
            </a:r>
            <a:endParaRPr lang="en-US" sz="1700" dirty="0"/>
          </a:p>
        </p:txBody>
      </p:sp>
      <p:sp>
        <p:nvSpPr>
          <p:cNvPr id="8" name="Text 5"/>
          <p:cNvSpPr txBox="1"/>
          <p:nvPr/>
        </p:nvSpPr>
        <p:spPr>
          <a:xfrm>
            <a:off x="9235440" y="216712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Intervenir (préventif)</a:t>
            </a:r>
            <a:endParaRPr lang="en-US" sz="1400" dirty="0"/>
          </a:p>
        </p:txBody>
      </p:sp>
      <p:sp>
        <p:nvSpPr>
          <p:cNvPr id="9" name="Shape 6"/>
          <p:cNvSpPr/>
          <p:nvPr/>
        </p:nvSpPr>
        <p:spPr>
          <a:xfrm>
            <a:off x="7498080" y="297180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0" name="Shape 7"/>
          <p:cNvSpPr/>
          <p:nvPr/>
        </p:nvSpPr>
        <p:spPr>
          <a:xfrm>
            <a:off x="7680960" y="3154680"/>
            <a:ext cx="1371600" cy="822960"/>
          </a:xfrm>
          <a:prstGeom prst="roundRect">
            <a:avLst>
              <a:gd name="adj" fmla="val 11111"/>
            </a:avLst>
          </a:prstGeom>
          <a:solidFill>
            <a:srgbClr val="B8892E"/>
          </a:solidFill>
          <a:ln w="12700">
            <a:solidFill>
              <a:srgbClr val="B8892E"/>
            </a:solidFill>
            <a:prstDash val="solid"/>
          </a:ln>
        </p:spPr>
      </p:sp>
      <p:sp>
        <p:nvSpPr>
          <p:cNvPr id="11" name="Text 8"/>
          <p:cNvSpPr txBox="1"/>
          <p:nvPr/>
        </p:nvSpPr>
        <p:spPr>
          <a:xfrm>
            <a:off x="7680960" y="315468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45 – 69</a:t>
            </a:r>
            <a:endParaRPr lang="en-US" sz="2200" dirty="0"/>
          </a:p>
        </p:txBody>
      </p:sp>
      <p:sp>
        <p:nvSpPr>
          <p:cNvPr id="12" name="Text 9"/>
          <p:cNvSpPr txBox="1"/>
          <p:nvPr/>
        </p:nvSpPr>
        <p:spPr>
          <a:xfrm>
            <a:off x="9235440" y="317296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modéré</a:t>
            </a:r>
            <a:endParaRPr lang="en-US" sz="1700" dirty="0"/>
          </a:p>
        </p:txBody>
      </p:sp>
      <p:sp>
        <p:nvSpPr>
          <p:cNvPr id="13" name="Text 10"/>
          <p:cNvSpPr txBox="1"/>
          <p:nvPr/>
        </p:nvSpPr>
        <p:spPr>
          <a:xfrm>
            <a:off x="9235440" y="358444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Surveiller, préparer</a:t>
            </a:r>
            <a:endParaRPr lang="en-US" sz="1400" dirty="0"/>
          </a:p>
        </p:txBody>
      </p:sp>
      <p:sp>
        <p:nvSpPr>
          <p:cNvPr id="14" name="Shape 11"/>
          <p:cNvSpPr/>
          <p:nvPr/>
        </p:nvSpPr>
        <p:spPr>
          <a:xfrm>
            <a:off x="7498080" y="438912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5" name="Shape 12"/>
          <p:cNvSpPr/>
          <p:nvPr/>
        </p:nvSpPr>
        <p:spPr>
          <a:xfrm>
            <a:off x="7680960" y="4572000"/>
            <a:ext cx="1371600" cy="822960"/>
          </a:xfrm>
          <a:prstGeom prst="roundRect">
            <a:avLst>
              <a:gd name="adj" fmla="val 11111"/>
            </a:avLst>
          </a:prstGeom>
          <a:solidFill>
            <a:srgbClr val="4A5E2E"/>
          </a:solidFill>
          <a:ln w="12700">
            <a:solidFill>
              <a:srgbClr val="4A5E2E"/>
            </a:solidFill>
            <a:prstDash val="solid"/>
          </a:ln>
        </p:spPr>
      </p:sp>
      <p:sp>
        <p:nvSpPr>
          <p:cNvPr id="16" name="Text 13"/>
          <p:cNvSpPr txBox="1"/>
          <p:nvPr/>
        </p:nvSpPr>
        <p:spPr>
          <a:xfrm>
            <a:off x="7680960" y="457200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&lt; 45</a:t>
            </a:r>
            <a:endParaRPr lang="en-US" sz="2200" dirty="0"/>
          </a:p>
        </p:txBody>
      </p:sp>
      <p:sp>
        <p:nvSpPr>
          <p:cNvPr id="17" name="Text 14"/>
          <p:cNvSpPr txBox="1"/>
          <p:nvPr/>
        </p:nvSpPr>
        <p:spPr>
          <a:xfrm>
            <a:off x="9235440" y="459028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faible</a:t>
            </a:r>
            <a:endParaRPr lang="en-US" sz="1700" dirty="0"/>
          </a:p>
        </p:txBody>
      </p:sp>
      <p:sp>
        <p:nvSpPr>
          <p:cNvPr id="18" name="Text 15"/>
          <p:cNvSpPr txBox="1"/>
          <p:nvPr/>
        </p:nvSpPr>
        <p:spPr>
          <a:xfrm>
            <a:off x="9235440" y="500176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Pas d'action</a:t>
            </a:r>
            <a:endParaRPr lang="en-US" sz="1400" dirty="0"/>
          </a:p>
        </p:txBody>
      </p:sp>
      <p:sp>
        <p:nvSpPr>
          <p:cNvPr id="19" name="Text 16"/>
          <p:cNvSpPr txBox="1"/>
          <p:nvPr/>
        </p:nvSpPr>
        <p:spPr>
          <a:xfrm>
            <a:off x="640080" y="5989320"/>
            <a:ext cx="10881360" cy="548640"/>
          </a:xfrm>
          <a:prstGeom prst="rect">
            <a:avLst/>
          </a:prstGeom>
          <a:noFill/>
          <a:ln/>
        </p:spPr>
        <p:txBody>
          <a:bodyPr wrap="square" lIns="0" tIns="0" rIns="0" bIns="0" rtlCol="0" anchor="ctr"/>
          <a:lstStyle/>
          <a:p>
            <a:pPr indent="0" marL="0">
              <a:buNone/>
            </a:pPr>
            <a:r>
              <a:rPr lang="en-US" sz="1300" i="1" dirty="0">
                <a:solidFill>
                  <a:srgbClr val="6B6A5C"/>
                </a:solidFill>
                <a:latin typeface="Calibri" pitchFamily="34" charset="0"/>
                <a:ea typeface="Calibri" pitchFamily="34" charset="-122"/>
                <a:cs typeface="Calibri" pitchFamily="34" charset="-120"/>
              </a:rPr>
              <a:t>Chaque alerte affiche ses raisons (ex. « T° 18 °C optimale · HR ≥ 90 % 14 h · 8 mm pluie »). Oïdium : bonus alternance sec/humide, malus si feuillage mouillé.</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Calculateur </a:t>
            </a:r>
            <a:pPr indent="0" marL="0">
              <a:buNone/>
            </a:pPr>
            <a:r>
              <a:rPr lang="en-US" sz="3600" i="1" dirty="0">
                <a:solidFill>
                  <a:srgbClr val="A0472A"/>
                </a:solidFill>
                <a:latin typeface="Cambria" pitchFamily="34" charset="0"/>
                <a:ea typeface="Cambria" pitchFamily="34" charset="-122"/>
                <a:cs typeface="Cambria" pitchFamily="34" charset="-120"/>
              </a:rPr>
              <a:t>de fertilisation</a:t>
            </a:r>
            <a:endParaRPr lang="en-US" sz="3600" dirty="0"/>
          </a:p>
        </p:txBody>
      </p:sp>
      <p:sp>
        <p:nvSpPr>
          <p:cNvPr id="3" name="Shape 1"/>
          <p:cNvSpPr/>
          <p:nvPr/>
        </p:nvSpPr>
        <p:spPr>
          <a:xfrm>
            <a:off x="749808" y="1207008"/>
            <a:ext cx="2706624" cy="5266944"/>
          </a:xfrm>
          <a:prstGeom prst="roundRect">
            <a:avLst>
              <a:gd name="adj" fmla="val 6757"/>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4" name="Image 0" descr="/tmp/claude-0/-home-user-meteo-rique-maraichage/b1532ef0-43df-5182-881a-fa5cd25c2188/scratchpad/shot-calc-fert.png">    </p:cNvPr>
          <p:cNvPicPr>
            <a:picLocks noChangeAspect="1"/>
          </p:cNvPicPr>
          <p:nvPr/>
        </p:nvPicPr>
        <p:blipFill>
          <a:blip r:embed="rId1"/>
          <a:stretch>
            <a:fillRect/>
          </a:stretch>
        </p:blipFill>
        <p:spPr>
          <a:xfrm>
            <a:off x="822960" y="1280160"/>
            <a:ext cx="2560320" cy="5120640"/>
          </a:xfrm>
          <a:prstGeom prst="rect">
            <a:avLst/>
          </a:prstGeom>
        </p:spPr>
      </p:pic>
      <p:sp>
        <p:nvSpPr>
          <p:cNvPr id="5" name="Text 2"/>
          <p:cNvSpPr txBox="1"/>
          <p:nvPr/>
        </p:nvSpPr>
        <p:spPr>
          <a:xfrm>
            <a:off x="4206240" y="1463040"/>
            <a:ext cx="7315200" cy="457200"/>
          </a:xfrm>
          <a:prstGeom prst="rect">
            <a:avLst/>
          </a:prstGeom>
          <a:noFill/>
          <a:ln/>
        </p:spPr>
        <p:txBody>
          <a:bodyPr wrap="square" lIns="0" tIns="0" rIns="0" bIns="0" rtlCol="0" anchor="ctr"/>
          <a:lstStyle/>
          <a:p>
            <a:pPr indent="0" marL="0">
              <a:buNone/>
            </a:pPr>
            <a:r>
              <a:rPr lang="en-US" sz="2200" b="1" dirty="0">
                <a:solidFill>
                  <a:srgbClr val="22261C"/>
                </a:solidFill>
                <a:latin typeface="Cambria" pitchFamily="34" charset="0"/>
                <a:ea typeface="Cambria" pitchFamily="34" charset="-122"/>
                <a:cs typeface="Cambria" pitchFamily="34" charset="-120"/>
              </a:rPr>
              <a:t>Des références hectare à la planche</a:t>
            </a:r>
            <a:endParaRPr lang="en-US" sz="2200" dirty="0"/>
          </a:p>
        </p:txBody>
      </p:sp>
      <p:sp>
        <p:nvSpPr>
          <p:cNvPr id="6" name="Text 3"/>
          <p:cNvSpPr txBox="1"/>
          <p:nvPr/>
        </p:nvSpPr>
        <p:spPr>
          <a:xfrm>
            <a:off x="4206240" y="2011680"/>
            <a:ext cx="7315200" cy="1280160"/>
          </a:xfrm>
          <a:prstGeom prst="rect">
            <a:avLst/>
          </a:prstGeom>
          <a:noFill/>
          <a:ln/>
        </p:spPr>
        <p:txBody>
          <a:bodyPr wrap="square" lIns="0" tIns="0" rIns="0" bIns="0" rtlCol="0" anchor="ctr"/>
          <a:lstStyle/>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Choix de l'espèce parmi 49 cultures</a:t>
            </a:r>
            <a:endParaRPr lang="en-US" sz="1600" dirty="0"/>
          </a:p>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Surface en planche (L × l) ou surface libre</a:t>
            </a:r>
            <a:endParaRPr lang="en-US" sz="1600" dirty="0"/>
          </a:p>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Besoins N · P · K et compost convertis automatiquement</a:t>
            </a:r>
            <a:endParaRPr lang="en-US" sz="1600" dirty="0"/>
          </a:p>
        </p:txBody>
      </p:sp>
      <p:sp>
        <p:nvSpPr>
          <p:cNvPr id="7" name="Text 4"/>
          <p:cNvSpPr txBox="1"/>
          <p:nvPr/>
        </p:nvSpPr>
        <p:spPr>
          <a:xfrm>
            <a:off x="4206240" y="3474720"/>
            <a:ext cx="7315200" cy="457200"/>
          </a:xfrm>
          <a:prstGeom prst="rect">
            <a:avLst/>
          </a:prstGeom>
          <a:noFill/>
          <a:ln/>
        </p:spPr>
        <p:txBody>
          <a:bodyPr wrap="square" lIns="0" tIns="0" rIns="0" bIns="0" rtlCol="0" anchor="ctr"/>
          <a:lstStyle/>
          <a:p>
            <a:pPr indent="0" marL="0">
              <a:buNone/>
            </a:pPr>
            <a:r>
              <a:rPr lang="en-US" sz="1400" i="1" dirty="0">
                <a:solidFill>
                  <a:srgbClr val="A0472A"/>
                </a:solidFill>
                <a:latin typeface="Calibri" pitchFamily="34" charset="0"/>
                <a:ea typeface="Calibri" pitchFamily="34" charset="-122"/>
                <a:cs typeface="Calibri" pitchFamily="34" charset="-120"/>
              </a:rPr>
              <a:t>Exemple : courge sur une planche de 30 m × 1 m (réf. N 120 / P 60 / K 100 U/ha ; 30–40 t/ha)</a:t>
            </a:r>
            <a:endParaRPr lang="en-US" sz="1400" dirty="0"/>
          </a:p>
        </p:txBody>
      </p:sp>
      <p:sp>
        <p:nvSpPr>
          <p:cNvPr id="8" name="Shape 5"/>
          <p:cNvSpPr/>
          <p:nvPr/>
        </p:nvSpPr>
        <p:spPr>
          <a:xfrm>
            <a:off x="42062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Text 6"/>
          <p:cNvSpPr txBox="1"/>
          <p:nvPr/>
        </p:nvSpPr>
        <p:spPr>
          <a:xfrm>
            <a:off x="42062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0,36 kg</a:t>
            </a:r>
            <a:endParaRPr lang="en-US" sz="2600" dirty="0"/>
          </a:p>
        </p:txBody>
      </p:sp>
      <p:sp>
        <p:nvSpPr>
          <p:cNvPr id="10" name="Text 7"/>
          <p:cNvSpPr txBox="1"/>
          <p:nvPr/>
        </p:nvSpPr>
        <p:spPr>
          <a:xfrm>
            <a:off x="42062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Azote (N)</a:t>
            </a:r>
            <a:endParaRPr lang="en-US" sz="1300" dirty="0"/>
          </a:p>
        </p:txBody>
      </p:sp>
      <p:sp>
        <p:nvSpPr>
          <p:cNvPr id="11" name="Shape 8"/>
          <p:cNvSpPr/>
          <p:nvPr/>
        </p:nvSpPr>
        <p:spPr>
          <a:xfrm>
            <a:off x="60350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2" name="Text 9"/>
          <p:cNvSpPr txBox="1"/>
          <p:nvPr/>
        </p:nvSpPr>
        <p:spPr>
          <a:xfrm>
            <a:off x="60350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0,18 kg</a:t>
            </a:r>
            <a:endParaRPr lang="en-US" sz="2600" dirty="0"/>
          </a:p>
        </p:txBody>
      </p:sp>
      <p:sp>
        <p:nvSpPr>
          <p:cNvPr id="13" name="Text 10"/>
          <p:cNvSpPr txBox="1"/>
          <p:nvPr/>
        </p:nvSpPr>
        <p:spPr>
          <a:xfrm>
            <a:off x="60350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Phosphore (P)</a:t>
            </a:r>
            <a:endParaRPr lang="en-US" sz="1300" dirty="0"/>
          </a:p>
        </p:txBody>
      </p:sp>
      <p:sp>
        <p:nvSpPr>
          <p:cNvPr id="14" name="Shape 11"/>
          <p:cNvSpPr/>
          <p:nvPr/>
        </p:nvSpPr>
        <p:spPr>
          <a:xfrm>
            <a:off x="78638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5" name="Text 12"/>
          <p:cNvSpPr txBox="1"/>
          <p:nvPr/>
        </p:nvSpPr>
        <p:spPr>
          <a:xfrm>
            <a:off x="78638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0,30 kg</a:t>
            </a:r>
            <a:endParaRPr lang="en-US" sz="2600" dirty="0"/>
          </a:p>
        </p:txBody>
      </p:sp>
      <p:sp>
        <p:nvSpPr>
          <p:cNvPr id="16" name="Text 13"/>
          <p:cNvSpPr txBox="1"/>
          <p:nvPr/>
        </p:nvSpPr>
        <p:spPr>
          <a:xfrm>
            <a:off x="78638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Potassium (K)</a:t>
            </a:r>
            <a:endParaRPr lang="en-US" sz="1300" dirty="0"/>
          </a:p>
        </p:txBody>
      </p:sp>
      <p:sp>
        <p:nvSpPr>
          <p:cNvPr id="17" name="Shape 14"/>
          <p:cNvSpPr/>
          <p:nvPr/>
        </p:nvSpPr>
        <p:spPr>
          <a:xfrm>
            <a:off x="96926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8" name="Text 15"/>
          <p:cNvSpPr txBox="1"/>
          <p:nvPr/>
        </p:nvSpPr>
        <p:spPr>
          <a:xfrm>
            <a:off x="9692640" y="4251960"/>
            <a:ext cx="1645920" cy="731520"/>
          </a:xfrm>
          <a:prstGeom prst="rect">
            <a:avLst/>
          </a:prstGeom>
          <a:noFill/>
          <a:ln/>
        </p:spPr>
        <p:txBody>
          <a:bodyPr wrap="square" lIns="0" tIns="0" rIns="0" bIns="0" rtlCol="0" anchor="ctr"/>
          <a:lstStyle/>
          <a:p>
            <a:pPr algn="ctr" indent="0" marL="0">
              <a:buNone/>
            </a:pPr>
            <a:r>
              <a:rPr lang="en-US" sz="2000" b="1" dirty="0">
                <a:solidFill>
                  <a:srgbClr val="2B3A1F"/>
                </a:solidFill>
                <a:latin typeface="Cambria" pitchFamily="34" charset="0"/>
                <a:ea typeface="Cambria" pitchFamily="34" charset="-122"/>
                <a:cs typeface="Cambria" pitchFamily="34" charset="-120"/>
              </a:rPr>
              <a:t>90–120 kg</a:t>
            </a:r>
            <a:endParaRPr lang="en-US" sz="2000" dirty="0"/>
          </a:p>
        </p:txBody>
      </p:sp>
      <p:sp>
        <p:nvSpPr>
          <p:cNvPr id="19" name="Text 16"/>
          <p:cNvSpPr txBox="1"/>
          <p:nvPr/>
        </p:nvSpPr>
        <p:spPr>
          <a:xfrm>
            <a:off x="96926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Fumier composté</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49 fiches espèces, </a:t>
            </a:r>
            <a:pPr indent="0" marL="0">
              <a:buNone/>
            </a:pPr>
            <a:r>
              <a:rPr lang="en-US" sz="3600" i="1" dirty="0">
                <a:solidFill>
                  <a:srgbClr val="A0472A"/>
                </a:solidFill>
                <a:latin typeface="Cambria" pitchFamily="34" charset="0"/>
                <a:ea typeface="Cambria" pitchFamily="34" charset="-122"/>
                <a:cs typeface="Cambria" pitchFamily="34" charset="-120"/>
              </a:rPr>
              <a:t>8 familles</a:t>
            </a:r>
            <a:endParaRPr lang="en-US" sz="3600" dirty="0"/>
          </a:p>
        </p:txBody>
      </p:sp>
      <p:graphicFrame>
        <p:nvGraphicFramePr>
          <p:cNvPr id="3" name="Chart 0" descr=""/>
          <p:cNvGraphicFramePr/>
          <p:nvPr/>
        </p:nvGraphicFramePr>
        <p:xfrm>
          <a:off x="457200" y="1371600"/>
          <a:ext cx="5120640" cy="420624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5806440" y="1463040"/>
            <a:ext cx="731520" cy="73152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2"/>
          <a:stretch>
            <a:fillRect/>
          </a:stretch>
        </p:blipFill>
        <p:spPr>
          <a:xfrm>
            <a:off x="5989320" y="1645920"/>
            <a:ext cx="365760" cy="365760"/>
          </a:xfrm>
          <a:prstGeom prst="rect">
            <a:avLst/>
          </a:prstGeom>
        </p:spPr>
      </p:pic>
      <p:sp>
        <p:nvSpPr>
          <p:cNvPr id="6" name="Text 2"/>
          <p:cNvSpPr txBox="1"/>
          <p:nvPr/>
        </p:nvSpPr>
        <p:spPr>
          <a:xfrm>
            <a:off x="6720840" y="14630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Semis &amp; plantation</a:t>
            </a:r>
            <a:endParaRPr lang="en-US" sz="1600" dirty="0"/>
          </a:p>
        </p:txBody>
      </p:sp>
      <p:sp>
        <p:nvSpPr>
          <p:cNvPr id="7" name="Text 3"/>
          <p:cNvSpPr txBox="1"/>
          <p:nvPr/>
        </p:nvSpPr>
        <p:spPr>
          <a:xfrm>
            <a:off x="6720840" y="18470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Type de semis, profondeur, densités bio-intensif / Agrosemens</a:t>
            </a:r>
            <a:endParaRPr lang="en-US" sz="1200" dirty="0"/>
          </a:p>
        </p:txBody>
      </p:sp>
      <p:sp>
        <p:nvSpPr>
          <p:cNvPr id="8" name="Shape 4"/>
          <p:cNvSpPr/>
          <p:nvPr/>
        </p:nvSpPr>
        <p:spPr>
          <a:xfrm>
            <a:off x="5806440" y="2834640"/>
            <a:ext cx="731520" cy="731520"/>
          </a:xfrm>
          <a:prstGeom prst="ellipse">
            <a:avLst/>
          </a:prstGeom>
          <a:solidFill>
            <a:srgbClr val="2B3A1F"/>
          </a:solidFill>
          <a:ln w="12700">
            <a:solidFill>
              <a:srgbClr val="2B3A1F"/>
            </a:solidFill>
            <a:prstDash val="solid"/>
          </a:ln>
        </p:spPr>
      </p:sp>
      <p:pic>
        <p:nvPicPr>
          <p:cNvPr id="9" name="Image 1" descr="preencoded.png">    </p:cNvPr>
          <p:cNvPicPr>
            <a:picLocks noChangeAspect="1"/>
          </p:cNvPicPr>
          <p:nvPr/>
        </p:nvPicPr>
        <p:blipFill>
          <a:blip r:embed="rId3"/>
          <a:stretch>
            <a:fillRect/>
          </a:stretch>
        </p:blipFill>
        <p:spPr>
          <a:xfrm>
            <a:off x="5989320" y="3017520"/>
            <a:ext cx="365760" cy="365760"/>
          </a:xfrm>
          <a:prstGeom prst="rect">
            <a:avLst/>
          </a:prstGeom>
        </p:spPr>
      </p:pic>
      <p:sp>
        <p:nvSpPr>
          <p:cNvPr id="10" name="Text 5"/>
          <p:cNvSpPr txBox="1"/>
          <p:nvPr/>
        </p:nvSpPr>
        <p:spPr>
          <a:xfrm>
            <a:off x="6720840" y="28346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Fertilisation</a:t>
            </a:r>
            <a:endParaRPr lang="en-US" sz="1600" dirty="0"/>
          </a:p>
        </p:txBody>
      </p:sp>
      <p:sp>
        <p:nvSpPr>
          <p:cNvPr id="11" name="Text 6"/>
          <p:cNvSpPr txBox="1"/>
          <p:nvPr/>
        </p:nvSpPr>
        <p:spPr>
          <a:xfrm>
            <a:off x="6720840" y="32186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Besoins N·P·K, compost, commentaires</a:t>
            </a:r>
            <a:endParaRPr lang="en-US" sz="1200" dirty="0"/>
          </a:p>
        </p:txBody>
      </p:sp>
      <p:sp>
        <p:nvSpPr>
          <p:cNvPr id="12" name="Shape 7"/>
          <p:cNvSpPr/>
          <p:nvPr/>
        </p:nvSpPr>
        <p:spPr>
          <a:xfrm>
            <a:off x="5806440" y="4206240"/>
            <a:ext cx="731520" cy="731520"/>
          </a:xfrm>
          <a:prstGeom prst="ellipse">
            <a:avLst/>
          </a:prstGeom>
          <a:solidFill>
            <a:srgbClr val="2B3A1F"/>
          </a:solidFill>
          <a:ln w="12700">
            <a:solidFill>
              <a:srgbClr val="2B3A1F"/>
            </a:solidFill>
            <a:prstDash val="solid"/>
          </a:ln>
        </p:spPr>
      </p:sp>
      <p:pic>
        <p:nvPicPr>
          <p:cNvPr id="13" name="Image 2" descr="preencoded.png">    </p:cNvPr>
          <p:cNvPicPr>
            <a:picLocks noChangeAspect="1"/>
          </p:cNvPicPr>
          <p:nvPr/>
        </p:nvPicPr>
        <p:blipFill>
          <a:blip r:embed="rId4"/>
          <a:stretch>
            <a:fillRect/>
          </a:stretch>
        </p:blipFill>
        <p:spPr>
          <a:xfrm>
            <a:off x="5989320" y="4389120"/>
            <a:ext cx="365760" cy="365760"/>
          </a:xfrm>
          <a:prstGeom prst="rect">
            <a:avLst/>
          </a:prstGeom>
        </p:spPr>
      </p:pic>
      <p:sp>
        <p:nvSpPr>
          <p:cNvPr id="14" name="Text 8"/>
          <p:cNvSpPr txBox="1"/>
          <p:nvPr/>
        </p:nvSpPr>
        <p:spPr>
          <a:xfrm>
            <a:off x="6720840" y="42062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Maladies &amp; ravageurs</a:t>
            </a:r>
            <a:endParaRPr lang="en-US" sz="1600" dirty="0"/>
          </a:p>
        </p:txBody>
      </p:sp>
      <p:sp>
        <p:nvSpPr>
          <p:cNvPr id="15" name="Text 9"/>
          <p:cNvSpPr txBox="1"/>
          <p:nvPr/>
        </p:nvSpPr>
        <p:spPr>
          <a:xfrm>
            <a:off x="6720840" y="45902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Solutions de biocontrôle et pratiques culturales</a:t>
            </a:r>
            <a:endParaRPr lang="en-US" sz="1200" dirty="0"/>
          </a:p>
        </p:txBody>
      </p:sp>
      <p:sp>
        <p:nvSpPr>
          <p:cNvPr id="16" name="Shape 10"/>
          <p:cNvSpPr/>
          <p:nvPr/>
        </p:nvSpPr>
        <p:spPr>
          <a:xfrm>
            <a:off x="9573768" y="1207008"/>
            <a:ext cx="2249424" cy="4352544"/>
          </a:xfrm>
          <a:prstGeom prst="roundRect">
            <a:avLst>
              <a:gd name="adj" fmla="val 8130"/>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17" name="Image 3" descr="/tmp/claude-0/-home-user-meteo-rique-maraichage/b1532ef0-43df-5182-881a-fa5cd25c2188/scratchpad/shot-especes.png">    </p:cNvPr>
          <p:cNvPicPr>
            <a:picLocks noChangeAspect="1"/>
          </p:cNvPicPr>
          <p:nvPr/>
        </p:nvPicPr>
        <p:blipFill>
          <a:blip r:embed="rId5"/>
          <a:stretch>
            <a:fillRect/>
          </a:stretch>
        </p:blipFill>
        <p:spPr>
          <a:xfrm>
            <a:off x="9646920" y="1280160"/>
            <a:ext cx="2103120" cy="4206240"/>
          </a:xfrm>
          <a:prstGeom prst="rect">
            <a:avLst/>
          </a:prstGeom>
        </p:spPr>
      </p:pic>
      <p:sp>
        <p:nvSpPr>
          <p:cNvPr id="18" name="Text 11"/>
          <p:cNvSpPr txBox="1"/>
          <p:nvPr/>
        </p:nvSpPr>
        <p:spPr>
          <a:xfrm>
            <a:off x="640080" y="5852160"/>
            <a:ext cx="8229600" cy="365760"/>
          </a:xfrm>
          <a:prstGeom prst="rect">
            <a:avLst/>
          </a:prstGeom>
          <a:noFill/>
          <a:ln/>
        </p:spPr>
        <p:txBody>
          <a:bodyPr wrap="square" lIns="0" tIns="0" rIns="0" bIns="0" rtlCol="0" anchor="ctr"/>
          <a:lstStyle/>
          <a:p>
            <a:pPr indent="0" marL="0">
              <a:buNone/>
            </a:pPr>
            <a:r>
              <a:rPr lang="en-US" sz="1300" i="1" dirty="0">
                <a:solidFill>
                  <a:srgbClr val="6B6A5C"/>
                </a:solidFill>
                <a:latin typeface="Calibri" pitchFamily="34" charset="0"/>
                <a:ea typeface="Calibri" pitchFamily="34" charset="-122"/>
                <a:cs typeface="Calibri" pitchFamily="34" charset="-120"/>
              </a:rPr>
              <a:t>Recherche par espèce ou maladie · filtres par famille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Sobriété </a:t>
            </a:r>
            <a:pPr indent="0" marL="0">
              <a:buNone/>
            </a:pPr>
            <a:r>
              <a:rPr lang="en-US" sz="3600" i="1" dirty="0">
                <a:solidFill>
                  <a:srgbClr val="A0472A"/>
                </a:solidFill>
                <a:latin typeface="Cambria" pitchFamily="34" charset="0"/>
                <a:ea typeface="Cambria" pitchFamily="34" charset="-122"/>
                <a:cs typeface="Cambria" pitchFamily="34" charset="-120"/>
              </a:rPr>
              <a:t>numérique par conception</a:t>
            </a:r>
            <a:endParaRPr lang="en-US" sz="3600" dirty="0"/>
          </a:p>
        </p:txBody>
      </p:sp>
      <p:sp>
        <p:nvSpPr>
          <p:cNvPr id="3" name="Shape 1"/>
          <p:cNvSpPr/>
          <p:nvPr/>
        </p:nvSpPr>
        <p:spPr>
          <a:xfrm>
            <a:off x="64008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1874520"/>
            <a:ext cx="640080" cy="64008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1074420" y="2034540"/>
            <a:ext cx="320040" cy="320040"/>
          </a:xfrm>
          <a:prstGeom prst="rect">
            <a:avLst/>
          </a:prstGeom>
        </p:spPr>
      </p:pic>
      <p:sp>
        <p:nvSpPr>
          <p:cNvPr id="6" name="Text 3"/>
          <p:cNvSpPr txBox="1"/>
          <p:nvPr/>
        </p:nvSpPr>
        <p:spPr>
          <a:xfrm>
            <a:off x="169164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Un seul fichier HTML</a:t>
            </a:r>
            <a:endParaRPr lang="en-US" sz="1700" dirty="0"/>
          </a:p>
        </p:txBody>
      </p:sp>
      <p:sp>
        <p:nvSpPr>
          <p:cNvPr id="7" name="Text 4"/>
          <p:cNvSpPr txBox="1"/>
          <p:nvPr/>
        </p:nvSpPr>
        <p:spPr>
          <a:xfrm>
            <a:off x="91440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Application statique, sans build, hébergée gratuitement sur GitHub Pages.</a:t>
            </a:r>
            <a:endParaRPr lang="en-US" sz="1400" dirty="0"/>
          </a:p>
        </p:txBody>
      </p:sp>
      <p:sp>
        <p:nvSpPr>
          <p:cNvPr id="8" name="Shape 5"/>
          <p:cNvSpPr/>
          <p:nvPr/>
        </p:nvSpPr>
        <p:spPr>
          <a:xfrm>
            <a:off x="434340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4617720" y="1874520"/>
            <a:ext cx="640080" cy="64008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4777740" y="2034540"/>
            <a:ext cx="320040" cy="320040"/>
          </a:xfrm>
          <a:prstGeom prst="rect">
            <a:avLst/>
          </a:prstGeom>
        </p:spPr>
      </p:pic>
      <p:sp>
        <p:nvSpPr>
          <p:cNvPr id="11" name="Text 7"/>
          <p:cNvSpPr txBox="1"/>
          <p:nvPr/>
        </p:nvSpPr>
        <p:spPr>
          <a:xfrm>
            <a:off x="539496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Hors-ligne</a:t>
            </a:r>
            <a:endParaRPr lang="en-US" sz="1700" dirty="0"/>
          </a:p>
        </p:txBody>
      </p:sp>
      <p:sp>
        <p:nvSpPr>
          <p:cNvPr id="12" name="Text 8"/>
          <p:cNvSpPr txBox="1"/>
          <p:nvPr/>
        </p:nvSpPr>
        <p:spPr>
          <a:xfrm>
            <a:off x="461772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Fiches et calculateurs disponibles sans réseau, au champ.</a:t>
            </a:r>
            <a:endParaRPr lang="en-US" sz="1400" dirty="0"/>
          </a:p>
        </p:txBody>
      </p:sp>
      <p:sp>
        <p:nvSpPr>
          <p:cNvPr id="13" name="Shape 9"/>
          <p:cNvSpPr/>
          <p:nvPr/>
        </p:nvSpPr>
        <p:spPr>
          <a:xfrm>
            <a:off x="804672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8321040" y="1874520"/>
            <a:ext cx="640080" cy="64008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8481060" y="2034540"/>
            <a:ext cx="320040" cy="320040"/>
          </a:xfrm>
          <a:prstGeom prst="rect">
            <a:avLst/>
          </a:prstGeom>
        </p:spPr>
      </p:pic>
      <p:sp>
        <p:nvSpPr>
          <p:cNvPr id="16" name="Text 11"/>
          <p:cNvSpPr txBox="1"/>
          <p:nvPr/>
        </p:nvSpPr>
        <p:spPr>
          <a:xfrm>
            <a:off x="909828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Installable (PWA)</a:t>
            </a:r>
            <a:endParaRPr lang="en-US" sz="1700" dirty="0"/>
          </a:p>
        </p:txBody>
      </p:sp>
      <p:sp>
        <p:nvSpPr>
          <p:cNvPr id="17" name="Text 12"/>
          <p:cNvSpPr txBox="1"/>
          <p:nvPr/>
        </p:nvSpPr>
        <p:spPr>
          <a:xfrm>
            <a:off x="832104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Ajout à l'écran d'accueil, comme une application native.</a:t>
            </a:r>
            <a:endParaRPr lang="en-US" sz="1400" dirty="0"/>
          </a:p>
        </p:txBody>
      </p:sp>
      <p:sp>
        <p:nvSpPr>
          <p:cNvPr id="18" name="Shape 13"/>
          <p:cNvSpPr/>
          <p:nvPr/>
        </p:nvSpPr>
        <p:spPr>
          <a:xfrm>
            <a:off x="64008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9" name="Shape 14"/>
          <p:cNvSpPr/>
          <p:nvPr/>
        </p:nvSpPr>
        <p:spPr>
          <a:xfrm>
            <a:off x="914400" y="4160520"/>
            <a:ext cx="640080" cy="640080"/>
          </a:xfrm>
          <a:prstGeom prst="ellipse">
            <a:avLst/>
          </a:prstGeom>
          <a:solidFill>
            <a:srgbClr val="2B3A1F"/>
          </a:solidFill>
          <a:ln w="12700">
            <a:solidFill>
              <a:srgbClr val="2B3A1F"/>
            </a:solidFill>
            <a:prstDash val="solid"/>
          </a:ln>
        </p:spPr>
      </p:sp>
      <p:pic>
        <p:nvPicPr>
          <p:cNvPr id="20" name="Image 3" descr="preencoded.png">    </p:cNvPr>
          <p:cNvPicPr>
            <a:picLocks noChangeAspect="1"/>
          </p:cNvPicPr>
          <p:nvPr/>
        </p:nvPicPr>
        <p:blipFill>
          <a:blip r:embed="rId4"/>
          <a:stretch>
            <a:fillRect/>
          </a:stretch>
        </p:blipFill>
        <p:spPr>
          <a:xfrm>
            <a:off x="1074420" y="4320540"/>
            <a:ext cx="320040" cy="320040"/>
          </a:xfrm>
          <a:prstGeom prst="rect">
            <a:avLst/>
          </a:prstGeom>
        </p:spPr>
      </p:pic>
      <p:sp>
        <p:nvSpPr>
          <p:cNvPr id="21" name="Text 15"/>
          <p:cNvSpPr txBox="1"/>
          <p:nvPr/>
        </p:nvSpPr>
        <p:spPr>
          <a:xfrm>
            <a:off x="169164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Données privées</a:t>
            </a:r>
            <a:endParaRPr lang="en-US" sz="1700" dirty="0"/>
          </a:p>
        </p:txBody>
      </p:sp>
      <p:sp>
        <p:nvSpPr>
          <p:cNvPr id="22" name="Text 16"/>
          <p:cNvSpPr txBox="1"/>
          <p:nvPr/>
        </p:nvSpPr>
        <p:spPr>
          <a:xfrm>
            <a:off x="91440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Position conservée uniquement sur l'appareil (localStorage).</a:t>
            </a:r>
            <a:endParaRPr lang="en-US" sz="1400" dirty="0"/>
          </a:p>
        </p:txBody>
      </p:sp>
      <p:sp>
        <p:nvSpPr>
          <p:cNvPr id="23" name="Shape 17"/>
          <p:cNvSpPr/>
          <p:nvPr/>
        </p:nvSpPr>
        <p:spPr>
          <a:xfrm>
            <a:off x="434340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4" name="Shape 18"/>
          <p:cNvSpPr/>
          <p:nvPr/>
        </p:nvSpPr>
        <p:spPr>
          <a:xfrm>
            <a:off x="4617720" y="4160520"/>
            <a:ext cx="640080" cy="640080"/>
          </a:xfrm>
          <a:prstGeom prst="ellipse">
            <a:avLst/>
          </a:prstGeom>
          <a:solidFill>
            <a:srgbClr val="2B3A1F"/>
          </a:solidFill>
          <a:ln w="12700">
            <a:solidFill>
              <a:srgbClr val="2B3A1F"/>
            </a:solidFill>
            <a:prstDash val="solid"/>
          </a:ln>
        </p:spPr>
      </p:sp>
      <p:pic>
        <p:nvPicPr>
          <p:cNvPr id="25" name="Image 4" descr="preencoded.png">    </p:cNvPr>
          <p:cNvPicPr>
            <a:picLocks noChangeAspect="1"/>
          </p:cNvPicPr>
          <p:nvPr/>
        </p:nvPicPr>
        <p:blipFill>
          <a:blip r:embed="rId5"/>
          <a:stretch>
            <a:fillRect/>
          </a:stretch>
        </p:blipFill>
        <p:spPr>
          <a:xfrm>
            <a:off x="4777740" y="4320540"/>
            <a:ext cx="320040" cy="320040"/>
          </a:xfrm>
          <a:prstGeom prst="rect">
            <a:avLst/>
          </a:prstGeom>
        </p:spPr>
      </p:pic>
      <p:sp>
        <p:nvSpPr>
          <p:cNvPr id="26" name="Text 19"/>
          <p:cNvSpPr txBox="1"/>
          <p:nvPr/>
        </p:nvSpPr>
        <p:spPr>
          <a:xfrm>
            <a:off x="539496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Faible empreinte</a:t>
            </a:r>
            <a:endParaRPr lang="en-US" sz="1700" dirty="0"/>
          </a:p>
        </p:txBody>
      </p:sp>
      <p:sp>
        <p:nvSpPr>
          <p:cNvPr id="27" name="Text 20"/>
          <p:cNvSpPr txBox="1"/>
          <p:nvPr/>
        </p:nvSpPr>
        <p:spPr>
          <a:xfrm>
            <a:off x="461772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Pas de base de données, requêtes météo minimales.</a:t>
            </a:r>
            <a:endParaRPr lang="en-US" sz="1400" dirty="0"/>
          </a:p>
        </p:txBody>
      </p:sp>
      <p:sp>
        <p:nvSpPr>
          <p:cNvPr id="28" name="Shape 21"/>
          <p:cNvSpPr/>
          <p:nvPr/>
        </p:nvSpPr>
        <p:spPr>
          <a:xfrm>
            <a:off x="804672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9" name="Shape 22"/>
          <p:cNvSpPr/>
          <p:nvPr/>
        </p:nvSpPr>
        <p:spPr>
          <a:xfrm>
            <a:off x="8321040" y="4160520"/>
            <a:ext cx="640080" cy="640080"/>
          </a:xfrm>
          <a:prstGeom prst="ellipse">
            <a:avLst/>
          </a:prstGeom>
          <a:solidFill>
            <a:srgbClr val="2B3A1F"/>
          </a:solidFill>
          <a:ln w="12700">
            <a:solidFill>
              <a:srgbClr val="2B3A1F"/>
            </a:solidFill>
            <a:prstDash val="solid"/>
          </a:ln>
        </p:spPr>
      </p:sp>
      <p:pic>
        <p:nvPicPr>
          <p:cNvPr id="30" name="Image 5" descr="preencoded.png">    </p:cNvPr>
          <p:cNvPicPr>
            <a:picLocks noChangeAspect="1"/>
          </p:cNvPicPr>
          <p:nvPr/>
        </p:nvPicPr>
        <p:blipFill>
          <a:blip r:embed="rId6"/>
          <a:stretch>
            <a:fillRect/>
          </a:stretch>
        </p:blipFill>
        <p:spPr>
          <a:xfrm>
            <a:off x="8481060" y="4320540"/>
            <a:ext cx="320040" cy="320040"/>
          </a:xfrm>
          <a:prstGeom prst="rect">
            <a:avLst/>
          </a:prstGeom>
        </p:spPr>
      </p:pic>
      <p:sp>
        <p:nvSpPr>
          <p:cNvPr id="31" name="Text 23"/>
          <p:cNvSpPr txBox="1"/>
          <p:nvPr/>
        </p:nvSpPr>
        <p:spPr>
          <a:xfrm>
            <a:off x="909828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Libre (MIT)</a:t>
            </a:r>
            <a:endParaRPr lang="en-US" sz="1700" dirty="0"/>
          </a:p>
        </p:txBody>
      </p:sp>
      <p:sp>
        <p:nvSpPr>
          <p:cNvPr id="32" name="Text 24"/>
          <p:cNvSpPr txBox="1"/>
          <p:nvPr/>
        </p:nvSpPr>
        <p:spPr>
          <a:xfrm>
            <a:off x="832104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Code ouvert, réutilisable par d'autres territoires.</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Sources </a:t>
            </a:r>
            <a:pPr indent="0" marL="0">
              <a:buNone/>
            </a:pPr>
            <a:r>
              <a:rPr lang="en-US" sz="3600" i="1" dirty="0">
                <a:solidFill>
                  <a:srgbClr val="A0472A"/>
                </a:solidFill>
                <a:latin typeface="Cambria" pitchFamily="34" charset="0"/>
                <a:ea typeface="Cambria" pitchFamily="34" charset="-122"/>
                <a:cs typeface="Cambria" pitchFamily="34" charset="-120"/>
              </a:rPr>
              <a:t>et limites</a:t>
            </a:r>
            <a:endParaRPr lang="en-US" sz="3600" dirty="0"/>
          </a:p>
        </p:txBody>
      </p:sp>
      <p:sp>
        <p:nvSpPr>
          <p:cNvPr id="3" name="Shape 1"/>
          <p:cNvSpPr/>
          <p:nvPr/>
        </p:nvSpPr>
        <p:spPr>
          <a:xfrm>
            <a:off x="640080" y="1463040"/>
            <a:ext cx="5303520" cy="3657600"/>
          </a:xfrm>
          <a:prstGeom prst="roundRect">
            <a:avLst>
              <a:gd name="adj" fmla="val 3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1737360"/>
            <a:ext cx="640080" cy="640080"/>
          </a:xfrm>
          <a:prstGeom prst="ellipse">
            <a:avLst/>
          </a:prstGeom>
          <a:solidFill>
            <a:srgbClr val="4A5E2E"/>
          </a:solidFill>
          <a:ln w="12700">
            <a:solidFill>
              <a:srgbClr val="4A5E2E"/>
            </a:solidFill>
            <a:prstDash val="solid"/>
          </a:ln>
        </p:spPr>
      </p:sp>
      <p:pic>
        <p:nvPicPr>
          <p:cNvPr id="5" name="Image 0" descr="preencoded.png">    </p:cNvPr>
          <p:cNvPicPr>
            <a:picLocks noChangeAspect="1"/>
          </p:cNvPicPr>
          <p:nvPr/>
        </p:nvPicPr>
        <p:blipFill>
          <a:blip r:embed="rId1"/>
          <a:stretch>
            <a:fillRect/>
          </a:stretch>
        </p:blipFill>
        <p:spPr>
          <a:xfrm>
            <a:off x="1074420" y="1897380"/>
            <a:ext cx="320040" cy="320040"/>
          </a:xfrm>
          <a:prstGeom prst="rect">
            <a:avLst/>
          </a:prstGeom>
        </p:spPr>
      </p:pic>
      <p:sp>
        <p:nvSpPr>
          <p:cNvPr id="6" name="Text 3"/>
          <p:cNvSpPr txBox="1"/>
          <p:nvPr/>
        </p:nvSpPr>
        <p:spPr>
          <a:xfrm>
            <a:off x="1737360" y="1783080"/>
            <a:ext cx="4023360" cy="54864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Références mobilisées</a:t>
            </a:r>
            <a:endParaRPr lang="en-US" sz="2000" dirty="0"/>
          </a:p>
        </p:txBody>
      </p:sp>
      <p:sp>
        <p:nvSpPr>
          <p:cNvPr id="7" name="Text 4"/>
          <p:cNvSpPr txBox="1"/>
          <p:nvPr/>
        </p:nvSpPr>
        <p:spPr>
          <a:xfrm>
            <a:off x="914400" y="2560320"/>
            <a:ext cx="4754880" cy="3200400"/>
          </a:xfrm>
          <a:prstGeom prst="rect">
            <a:avLst/>
          </a:prstGeom>
          <a:noFill/>
          <a:ln/>
        </p:spPr>
        <p:txBody>
          <a:bodyPr wrap="square" lIns="0" tIns="0" rIns="0" bIns="0" rtlCol="0" anchor="t"/>
          <a:lstStyle/>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Maraîchage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AgroBio Bretagne, GRAB, GAB, FNAB, Agrosemens</a:t>
            </a:r>
            <a:endParaRPr lang="en-US" sz="1500" dirty="0"/>
          </a:p>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Maladies &amp; climat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INRAE Ephytia, ITAB, ARVALIS, MAB16 2024, GECO Ecophytopic</a:t>
            </a:r>
            <a:endParaRPr lang="en-US" sz="1500" dirty="0"/>
          </a:p>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Météo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Open-Meteo (gratuit, sans clé API)</a:t>
            </a:r>
            <a:endParaRPr lang="en-US" sz="1500" dirty="0"/>
          </a:p>
        </p:txBody>
      </p:sp>
      <p:sp>
        <p:nvSpPr>
          <p:cNvPr id="8" name="Shape 5"/>
          <p:cNvSpPr/>
          <p:nvPr/>
        </p:nvSpPr>
        <p:spPr>
          <a:xfrm>
            <a:off x="6263640" y="1463040"/>
            <a:ext cx="5303520" cy="3657600"/>
          </a:xfrm>
          <a:prstGeom prst="roundRect">
            <a:avLst>
              <a:gd name="adj" fmla="val 3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6537960" y="1737360"/>
            <a:ext cx="640080" cy="640080"/>
          </a:xfrm>
          <a:prstGeom prst="ellipse">
            <a:avLst/>
          </a:prstGeom>
          <a:solidFill>
            <a:srgbClr val="A0472A"/>
          </a:solidFill>
          <a:ln w="12700">
            <a:solidFill>
              <a:srgbClr val="A0472A"/>
            </a:solidFill>
            <a:prstDash val="solid"/>
          </a:ln>
        </p:spPr>
      </p:sp>
      <p:pic>
        <p:nvPicPr>
          <p:cNvPr id="10" name="Image 1" descr="preencoded.png">    </p:cNvPr>
          <p:cNvPicPr>
            <a:picLocks noChangeAspect="1"/>
          </p:cNvPicPr>
          <p:nvPr/>
        </p:nvPicPr>
        <p:blipFill>
          <a:blip r:embed="rId2"/>
          <a:stretch>
            <a:fillRect/>
          </a:stretch>
        </p:blipFill>
        <p:spPr>
          <a:xfrm>
            <a:off x="6697980" y="1897380"/>
            <a:ext cx="320040" cy="320040"/>
          </a:xfrm>
          <a:prstGeom prst="rect">
            <a:avLst/>
          </a:prstGeom>
        </p:spPr>
      </p:pic>
      <p:sp>
        <p:nvSpPr>
          <p:cNvPr id="11" name="Text 7"/>
          <p:cNvSpPr txBox="1"/>
          <p:nvPr/>
        </p:nvSpPr>
        <p:spPr>
          <a:xfrm>
            <a:off x="7360920" y="1783080"/>
            <a:ext cx="4023360" cy="54864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Limites connues</a:t>
            </a:r>
            <a:endParaRPr lang="en-US" sz="2000" dirty="0"/>
          </a:p>
        </p:txBody>
      </p:sp>
      <p:sp>
        <p:nvSpPr>
          <p:cNvPr id="12" name="Text 8"/>
          <p:cNvSpPr txBox="1"/>
          <p:nvPr/>
        </p:nvSpPr>
        <p:spPr>
          <a:xfrm>
            <a:off x="6537960" y="2560320"/>
            <a:ext cx="475488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Humidité mesurée à 2 m, pas au feuillage : humectation estimée, non mesurée</a:t>
            </a:r>
            <a:endParaRPr lang="en-US" sz="1500" dirty="0"/>
          </a:p>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Virus (CMV, TSWV, TMV…) sans seuils climatiques : pas d'alerte automatique</a:t>
            </a:r>
            <a:endParaRPr lang="en-US" sz="1500" dirty="0"/>
          </a:p>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Seuils volontairement prudents : aide à la décision, pas prescription</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Perspectives </a:t>
            </a:r>
            <a:pPr indent="0" marL="0">
              <a:buNone/>
            </a:pPr>
            <a:r>
              <a:rPr lang="en-US" sz="3600" i="1" dirty="0">
                <a:solidFill>
                  <a:srgbClr val="A0472A"/>
                </a:solidFill>
                <a:latin typeface="Cambria" pitchFamily="34" charset="0"/>
                <a:ea typeface="Cambria" pitchFamily="34" charset="-122"/>
                <a:cs typeface="Cambria" pitchFamily="34" charset="-120"/>
              </a:rPr>
              <a:t>d'évolution</a:t>
            </a:r>
            <a:endParaRPr lang="en-US" sz="3600" dirty="0"/>
          </a:p>
        </p:txBody>
      </p:sp>
      <p:sp>
        <p:nvSpPr>
          <p:cNvPr id="3" name="Shape 1"/>
          <p:cNvSpPr/>
          <p:nvPr/>
        </p:nvSpPr>
        <p:spPr>
          <a:xfrm>
            <a:off x="1417320" y="1828800"/>
            <a:ext cx="1005840" cy="1005840"/>
          </a:xfrm>
          <a:prstGeom prst="ellipse">
            <a:avLst/>
          </a:prstGeom>
          <a:solidFill>
            <a:srgbClr val="A0472A"/>
          </a:solidFill>
          <a:ln w="12700">
            <a:solidFill>
              <a:srgbClr val="A0472A"/>
            </a:solidFill>
            <a:prstDash val="solid"/>
          </a:ln>
        </p:spPr>
      </p:sp>
      <p:pic>
        <p:nvPicPr>
          <p:cNvPr id="4" name="Image 0" descr="preencoded.png">    </p:cNvPr>
          <p:cNvPicPr>
            <a:picLocks noChangeAspect="1"/>
          </p:cNvPicPr>
          <p:nvPr/>
        </p:nvPicPr>
        <p:blipFill>
          <a:blip r:embed="rId1"/>
          <a:stretch>
            <a:fillRect/>
          </a:stretch>
        </p:blipFill>
        <p:spPr>
          <a:xfrm>
            <a:off x="1668780" y="2080260"/>
            <a:ext cx="502920" cy="502920"/>
          </a:xfrm>
          <a:prstGeom prst="rect">
            <a:avLst/>
          </a:prstGeom>
        </p:spPr>
      </p:pic>
      <p:sp>
        <p:nvSpPr>
          <p:cNvPr id="5" name="Text 2"/>
          <p:cNvSpPr txBox="1"/>
          <p:nvPr/>
        </p:nvSpPr>
        <p:spPr>
          <a:xfrm>
            <a:off x="64008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Fruitiers / verger</a:t>
            </a:r>
            <a:endParaRPr lang="en-US" sz="1800" dirty="0"/>
          </a:p>
        </p:txBody>
      </p:sp>
      <p:sp>
        <p:nvSpPr>
          <p:cNvPr id="6" name="Text 3"/>
          <p:cNvSpPr txBox="1"/>
          <p:nvPr/>
        </p:nvSpPr>
        <p:spPr>
          <a:xfrm>
            <a:off x="64008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Étendre les fiches et les alertes aux arbres fruitiers</a:t>
            </a:r>
            <a:endParaRPr lang="en-US" sz="1400" dirty="0"/>
          </a:p>
        </p:txBody>
      </p:sp>
      <p:sp>
        <p:nvSpPr>
          <p:cNvPr id="7" name="Shape 4"/>
          <p:cNvSpPr/>
          <p:nvPr/>
        </p:nvSpPr>
        <p:spPr>
          <a:xfrm>
            <a:off x="4206240" y="1828800"/>
            <a:ext cx="1005840" cy="1005840"/>
          </a:xfrm>
          <a:prstGeom prst="ellipse">
            <a:avLst/>
          </a:prstGeom>
          <a:solidFill>
            <a:srgbClr val="2B3A1F"/>
          </a:solidFill>
          <a:ln w="12700">
            <a:solidFill>
              <a:srgbClr val="2B3A1F"/>
            </a:solidFill>
            <a:prstDash val="solid"/>
          </a:ln>
        </p:spPr>
      </p:sp>
      <p:pic>
        <p:nvPicPr>
          <p:cNvPr id="8" name="Image 1" descr="preencoded.png">    </p:cNvPr>
          <p:cNvPicPr>
            <a:picLocks noChangeAspect="1"/>
          </p:cNvPicPr>
          <p:nvPr/>
        </p:nvPicPr>
        <p:blipFill>
          <a:blip r:embed="rId2"/>
          <a:stretch>
            <a:fillRect/>
          </a:stretch>
        </p:blipFill>
        <p:spPr>
          <a:xfrm>
            <a:off x="4457700" y="2080260"/>
            <a:ext cx="502920" cy="502920"/>
          </a:xfrm>
          <a:prstGeom prst="rect">
            <a:avLst/>
          </a:prstGeom>
        </p:spPr>
      </p:pic>
      <p:sp>
        <p:nvSpPr>
          <p:cNvPr id="9" name="Text 5"/>
          <p:cNvSpPr txBox="1"/>
          <p:nvPr/>
        </p:nvSpPr>
        <p:spPr>
          <a:xfrm>
            <a:off x="342900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Calendrier de semis local</a:t>
            </a:r>
            <a:endParaRPr lang="en-US" sz="1800" dirty="0"/>
          </a:p>
        </p:txBody>
      </p:sp>
      <p:sp>
        <p:nvSpPr>
          <p:cNvPr id="10" name="Text 6"/>
          <p:cNvSpPr txBox="1"/>
          <p:nvPr/>
        </p:nvSpPr>
        <p:spPr>
          <a:xfrm>
            <a:off x="342900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Selon saison et zone climatique, avec planification des cultures</a:t>
            </a:r>
            <a:endParaRPr lang="en-US" sz="1400" dirty="0"/>
          </a:p>
        </p:txBody>
      </p:sp>
      <p:sp>
        <p:nvSpPr>
          <p:cNvPr id="11" name="Shape 7"/>
          <p:cNvSpPr/>
          <p:nvPr/>
        </p:nvSpPr>
        <p:spPr>
          <a:xfrm>
            <a:off x="6995160" y="1828800"/>
            <a:ext cx="1005840" cy="1005840"/>
          </a:xfrm>
          <a:prstGeom prst="ellipse">
            <a:avLst/>
          </a:prstGeom>
          <a:solidFill>
            <a:srgbClr val="2B3A1F"/>
          </a:solidFill>
          <a:ln w="12700">
            <a:solidFill>
              <a:srgbClr val="2B3A1F"/>
            </a:solidFill>
            <a:prstDash val="solid"/>
          </a:ln>
        </p:spPr>
      </p:sp>
      <p:pic>
        <p:nvPicPr>
          <p:cNvPr id="12" name="Image 2" descr="preencoded.png">    </p:cNvPr>
          <p:cNvPicPr>
            <a:picLocks noChangeAspect="1"/>
          </p:cNvPicPr>
          <p:nvPr/>
        </p:nvPicPr>
        <p:blipFill>
          <a:blip r:embed="rId3"/>
          <a:stretch>
            <a:fillRect/>
          </a:stretch>
        </p:blipFill>
        <p:spPr>
          <a:xfrm>
            <a:off x="7246620" y="2080260"/>
            <a:ext cx="502920" cy="502920"/>
          </a:xfrm>
          <a:prstGeom prst="rect">
            <a:avLst/>
          </a:prstGeom>
        </p:spPr>
      </p:pic>
      <p:sp>
        <p:nvSpPr>
          <p:cNvPr id="13" name="Text 8"/>
          <p:cNvSpPr txBox="1"/>
          <p:nvPr/>
        </p:nvSpPr>
        <p:spPr>
          <a:xfrm>
            <a:off x="621792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Carnet de suivi sanitaire</a:t>
            </a:r>
            <a:endParaRPr lang="en-US" sz="1800" dirty="0"/>
          </a:p>
        </p:txBody>
      </p:sp>
      <p:sp>
        <p:nvSpPr>
          <p:cNvPr id="14" name="Text 9"/>
          <p:cNvSpPr txBox="1"/>
          <p:nvPr/>
        </p:nvSpPr>
        <p:spPr>
          <a:xfrm>
            <a:off x="621792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Pour chaque culture suivie : maladie observée ou non, traitement réalisé (date, produit, notes)</a:t>
            </a:r>
            <a:endParaRPr lang="en-US" sz="1400" dirty="0"/>
          </a:p>
        </p:txBody>
      </p:sp>
      <p:sp>
        <p:nvSpPr>
          <p:cNvPr id="15" name="Shape 10"/>
          <p:cNvSpPr/>
          <p:nvPr/>
        </p:nvSpPr>
        <p:spPr>
          <a:xfrm>
            <a:off x="9784080" y="1828800"/>
            <a:ext cx="1005840" cy="1005840"/>
          </a:xfrm>
          <a:prstGeom prst="ellipse">
            <a:avLst/>
          </a:prstGeom>
          <a:solidFill>
            <a:srgbClr val="2B3A1F"/>
          </a:solidFill>
          <a:ln w="12700">
            <a:solidFill>
              <a:srgbClr val="2B3A1F"/>
            </a:solidFill>
            <a:prstDash val="solid"/>
          </a:ln>
        </p:spPr>
      </p:sp>
      <p:pic>
        <p:nvPicPr>
          <p:cNvPr id="16" name="Image 3" descr="preencoded.png">    </p:cNvPr>
          <p:cNvPicPr>
            <a:picLocks noChangeAspect="1"/>
          </p:cNvPicPr>
          <p:nvPr/>
        </p:nvPicPr>
        <p:blipFill>
          <a:blip r:embed="rId4"/>
          <a:stretch>
            <a:fillRect/>
          </a:stretch>
        </p:blipFill>
        <p:spPr>
          <a:xfrm>
            <a:off x="10035540" y="2080260"/>
            <a:ext cx="502920" cy="502920"/>
          </a:xfrm>
          <a:prstGeom prst="rect">
            <a:avLst/>
          </a:prstGeom>
        </p:spPr>
      </p:pic>
      <p:sp>
        <p:nvSpPr>
          <p:cNvPr id="17" name="Text 11"/>
          <p:cNvSpPr txBox="1"/>
          <p:nvPr/>
        </p:nvSpPr>
        <p:spPr>
          <a:xfrm>
            <a:off x="900684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Historique des alertes</a:t>
            </a:r>
            <a:endParaRPr lang="en-US" sz="1800" dirty="0"/>
          </a:p>
        </p:txBody>
      </p:sp>
      <p:sp>
        <p:nvSpPr>
          <p:cNvPr id="18" name="Text 12"/>
          <p:cNvSpPr txBox="1"/>
          <p:nvPr/>
        </p:nvSpPr>
        <p:spPr>
          <a:xfrm>
            <a:off x="900684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Confronter alertes et observations pour confirmer, saison après saison, l'utilité des interventions préventives</a:t>
            </a:r>
            <a:endParaRPr lang="en-US" sz="1400" dirty="0"/>
          </a:p>
        </p:txBody>
      </p:sp>
      <p:sp>
        <p:nvSpPr>
          <p:cNvPr id="19" name="Text 13"/>
          <p:cNvSpPr txBox="1"/>
          <p:nvPr/>
        </p:nvSpPr>
        <p:spPr>
          <a:xfrm>
            <a:off x="640080" y="5486400"/>
            <a:ext cx="10881360" cy="548640"/>
          </a:xfrm>
          <a:prstGeom prst="rect">
            <a:avLst/>
          </a:prstGeom>
          <a:noFill/>
          <a:ln/>
        </p:spPr>
        <p:txBody>
          <a:bodyPr wrap="square" lIns="0" tIns="0" rIns="0" bIns="0" rtlCol="0" anchor="ctr"/>
          <a:lstStyle/>
          <a:p>
            <a:pPr indent="0" marL="0">
              <a:buNone/>
            </a:pPr>
            <a:r>
              <a:rPr lang="en-US" sz="1500" i="1" dirty="0">
                <a:solidFill>
                  <a:srgbClr val="A0472A"/>
                </a:solidFill>
                <a:latin typeface="Calibri" pitchFamily="34" charset="0"/>
                <a:ea typeface="Calibri" pitchFamily="34" charset="-122"/>
                <a:cs typeface="Calibri" pitchFamily="34" charset="-120"/>
              </a:rPr>
              <a:t>À discuter : partenariats (GAB, lycées agricoles, collectivités), tests utilisateurs, validation agronomique.</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B3A1F"/>
        </a:solidFill>
      </p:bgPr>
    </p:bg>
    <p:spTree>
      <p:nvGrpSpPr>
        <p:cNvPr id="1" name=""/>
        <p:cNvGrpSpPr/>
        <p:nvPr/>
      </p:nvGrpSpPr>
      <p:grpSpPr>
        <a:xfrm>
          <a:off x="0" y="0"/>
          <a:ext cx="0" cy="0"/>
          <a:chOff x="0" y="0"/>
          <a:chExt cx="0" cy="0"/>
        </a:xfrm>
      </p:grpSpPr>
      <p:sp>
        <p:nvSpPr>
          <p:cNvPr id="2" name="Shape 0"/>
          <p:cNvSpPr/>
          <p:nvPr/>
        </p:nvSpPr>
        <p:spPr>
          <a:xfrm>
            <a:off x="731520" y="822960"/>
            <a:ext cx="914400" cy="914400"/>
          </a:xfrm>
          <a:prstGeom prst="ellipse">
            <a:avLst/>
          </a:prstGeom>
          <a:solidFill>
            <a:srgbClr val="B8892E"/>
          </a:solidFill>
          <a:ln w="12700">
            <a:solidFill>
              <a:srgbClr val="B8892E"/>
            </a:solidFill>
            <a:prstDash val="solid"/>
          </a:ln>
        </p:spPr>
      </p:sp>
      <p:pic>
        <p:nvPicPr>
          <p:cNvPr id="3" name="Image 0" descr="preencoded.png">    </p:cNvPr>
          <p:cNvPicPr>
            <a:picLocks noChangeAspect="1"/>
          </p:cNvPicPr>
          <p:nvPr/>
        </p:nvPicPr>
        <p:blipFill>
          <a:blip r:embed="rId1"/>
          <a:stretch>
            <a:fillRect/>
          </a:stretch>
        </p:blipFill>
        <p:spPr>
          <a:xfrm>
            <a:off x="960120" y="1051560"/>
            <a:ext cx="457200" cy="457200"/>
          </a:xfrm>
          <a:prstGeom prst="rect">
            <a:avLst/>
          </a:prstGeom>
        </p:spPr>
      </p:pic>
      <p:sp>
        <p:nvSpPr>
          <p:cNvPr id="4" name="Text 1"/>
          <p:cNvSpPr txBox="1"/>
          <p:nvPr/>
        </p:nvSpPr>
        <p:spPr>
          <a:xfrm>
            <a:off x="731520" y="2103120"/>
            <a:ext cx="7772400" cy="822960"/>
          </a:xfrm>
          <a:prstGeom prst="rect">
            <a:avLst/>
          </a:prstGeom>
          <a:noFill/>
          <a:ln/>
        </p:spPr>
        <p:txBody>
          <a:bodyPr wrap="square" lIns="0" tIns="0" rIns="0" bIns="0" rtlCol="0" anchor="ctr"/>
          <a:lstStyle/>
          <a:p>
            <a:pPr indent="0" marL="0">
              <a:buNone/>
            </a:pPr>
            <a:r>
              <a:rPr lang="en-US" sz="4000" dirty="0">
                <a:solidFill>
                  <a:srgbClr val="FFFFFF"/>
                </a:solidFill>
                <a:latin typeface="Cambria" pitchFamily="34" charset="0"/>
                <a:ea typeface="Cambria" pitchFamily="34" charset="-122"/>
                <a:cs typeface="Cambria" pitchFamily="34" charset="-120"/>
              </a:rPr>
              <a:t>Prévenir plutôt </a:t>
            </a:r>
            <a:pPr indent="0" marL="0">
              <a:buNone/>
            </a:pPr>
            <a:r>
              <a:rPr lang="en-US" sz="4000" i="1" dirty="0">
                <a:solidFill>
                  <a:srgbClr val="D9C48E"/>
                </a:solidFill>
                <a:latin typeface="Cambria" pitchFamily="34" charset="0"/>
                <a:ea typeface="Cambria" pitchFamily="34" charset="-122"/>
                <a:cs typeface="Cambria" pitchFamily="34" charset="-120"/>
              </a:rPr>
              <a:t>que guérir</a:t>
            </a:r>
            <a:endParaRPr lang="en-US" sz="4000" dirty="0"/>
          </a:p>
        </p:txBody>
      </p:sp>
      <p:sp>
        <p:nvSpPr>
          <p:cNvPr id="5" name="Text 2"/>
          <p:cNvSpPr txBox="1"/>
          <p:nvPr/>
        </p:nvSpPr>
        <p:spPr>
          <a:xfrm>
            <a:off x="731520" y="3108960"/>
            <a:ext cx="6949440" cy="1097280"/>
          </a:xfrm>
          <a:prstGeom prst="rect">
            <a:avLst/>
          </a:prstGeom>
          <a:noFill/>
          <a:ln/>
        </p:spPr>
        <p:txBody>
          <a:bodyPr wrap="square" lIns="0" tIns="0" rIns="0" bIns="0" rtlCol="0" anchor="ctr"/>
          <a:lstStyle/>
          <a:p>
            <a:pPr indent="0" marL="0">
              <a:buNone/>
            </a:pPr>
            <a:r>
              <a:rPr lang="en-US" sz="1800" dirty="0">
                <a:solidFill>
                  <a:srgbClr val="CFCBB8"/>
                </a:solidFill>
                <a:latin typeface="Calibri" pitchFamily="34" charset="0"/>
                <a:ea typeface="Calibri" pitchFamily="34" charset="-122"/>
                <a:cs typeface="Calibri" pitchFamily="34" charset="-120"/>
              </a:rPr>
              <a:t>Un outil libre, sobre et fondé sur des références scientifiques, au service des maraîchers et de la transition agroécologique des territoires.</a:t>
            </a:r>
            <a:endParaRPr lang="en-US" sz="1800" dirty="0"/>
          </a:p>
        </p:txBody>
      </p:sp>
      <p:sp>
        <p:nvSpPr>
          <p:cNvPr id="6" name="Text 3"/>
          <p:cNvSpPr txBox="1"/>
          <p:nvPr/>
        </p:nvSpPr>
        <p:spPr>
          <a:xfrm>
            <a:off x="731520" y="4754880"/>
            <a:ext cx="6949440" cy="8229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Essayer l'application</a:t>
            </a:r>
            <a:endParaRPr lang="en-US" sz="1600" dirty="0"/>
          </a:p>
          <a:p>
            <a:pPr indent="0" marL="0">
              <a:buNone/>
            </a:pPr>
            <a:r>
              <a:rPr lang="en-US" sz="1600" dirty="0">
                <a:solidFill>
                  <a:srgbClr val="D9C48E"/>
                </a:solidFill>
                <a:latin typeface="Calibri" pitchFamily="34" charset="0"/>
                <a:ea typeface="Calibri" pitchFamily="34" charset="-122"/>
                <a:cs typeface="Calibri" pitchFamily="34" charset="-120"/>
              </a:rPr>
              <a:t>elodie24000.github.io/meteo-rique-maraichage</a:t>
            </a:r>
            <a:endParaRPr lang="en-US" sz="1600" dirty="0"/>
          </a:p>
        </p:txBody>
      </p:sp>
      <p:sp>
        <p:nvSpPr>
          <p:cNvPr id="7" name="Shape 4"/>
          <p:cNvSpPr/>
          <p:nvPr/>
        </p:nvSpPr>
        <p:spPr>
          <a:xfrm>
            <a:off x="8705088" y="749808"/>
            <a:ext cx="2752344" cy="5358384"/>
          </a:xfrm>
          <a:prstGeom prst="roundRect">
            <a:avLst>
              <a:gd name="adj" fmla="val 6645"/>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8" name="Image 1" descr="/tmp/claude-0/-home-user-meteo-rique-maraichage/b1532ef0-43df-5182-881a-fa5cd25c2188/scratchpad/shot-calc-fert.png">    </p:cNvPr>
          <p:cNvPicPr>
            <a:picLocks noChangeAspect="1"/>
          </p:cNvPicPr>
          <p:nvPr/>
        </p:nvPicPr>
        <p:blipFill>
          <a:blip r:embed="rId2"/>
          <a:stretch>
            <a:fillRect/>
          </a:stretch>
        </p:blipFill>
        <p:spPr>
          <a:xfrm>
            <a:off x="8778240" y="822960"/>
            <a:ext cx="2606040" cy="5212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Outil d'aide au maraîchage</dc:title>
  <dc:subject>PptxGenJS Presentation</dc:subject>
  <dc:creator>Élodie Plassin</dc:creator>
  <cp:lastModifiedBy>Élodie Plassin</cp:lastModifiedBy>
  <cp:revision>1</cp:revision>
  <dcterms:created xsi:type="dcterms:W3CDTF">2026-10-01T16:11:38Z</dcterms:created>
  <dcterms:modified xsi:type="dcterms:W3CDTF">2026-10-01T16:11:38Z</dcterms:modified>
</cp:coreProperties>
</file>