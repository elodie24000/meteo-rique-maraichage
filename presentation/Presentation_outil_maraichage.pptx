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 respiration : laisser les chiffres parler.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sp>
        <p:nvSpPr>
          <p:cNvPr id="6" name="Text 3"/>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Brouillon · septembre 2026</a:t>
            </a:r>
            <a:endParaRPr lang="en-US" sz="12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FFFFFF"/>
                </a:solidFill>
                <a:latin typeface="Cambria" pitchFamily="34" charset="0"/>
                <a:ea typeface="Cambria" pitchFamily="34" charset="-122"/>
                <a:cs typeface="Cambria" pitchFamily="34" charset="-120"/>
              </a:rPr>
              <a:t>L'outil </a:t>
            </a:r>
            <a:pPr indent="0" marL="0">
              <a:buNone/>
            </a:pPr>
            <a:r>
              <a:rPr lang="en-US" sz="3600" i="1" dirty="0">
                <a:solidFill>
                  <a:srgbClr val="D9C48E"/>
                </a:solidFill>
                <a:latin typeface="Cambria" pitchFamily="34" charset="0"/>
                <a:ea typeface="Cambria" pitchFamily="34" charset="-122"/>
                <a:cs typeface="Cambria" pitchFamily="34" charset="-120"/>
              </a:rPr>
              <a:t>en chiffres</a:t>
            </a:r>
            <a:endParaRPr lang="en-US" sz="3600" dirty="0"/>
          </a:p>
        </p:txBody>
      </p:sp>
      <p:sp>
        <p:nvSpPr>
          <p:cNvPr id="3" name="Text 1"/>
          <p:cNvSpPr txBox="1"/>
          <p:nvPr/>
        </p:nvSpPr>
        <p:spPr>
          <a:xfrm>
            <a:off x="640080" y="2103120"/>
            <a:ext cx="2560320" cy="1280160"/>
          </a:xfrm>
          <a:prstGeom prst="rect">
            <a:avLst/>
          </a:prstGeom>
          <a:noFill/>
          <a:ln/>
        </p:spPr>
        <p:txBody>
          <a:bodyPr wrap="square" lIns="0" tIns="0" rIns="0" bIns="0" rtlCol="0" anchor="ctr"/>
          <a:lstStyle/>
          <a:p>
            <a:pPr indent="0" marL="0">
              <a:buNone/>
            </a:pPr>
            <a:r>
              <a:rPr lang="en-US" sz="6600" b="1" dirty="0">
                <a:solidFill>
                  <a:srgbClr val="D9C48E"/>
                </a:solidFill>
                <a:latin typeface="Cambria" pitchFamily="34" charset="0"/>
                <a:ea typeface="Cambria" pitchFamily="34" charset="-122"/>
                <a:cs typeface="Cambria" pitchFamily="34" charset="-120"/>
              </a:rPr>
              <a:t>49</a:t>
            </a:r>
            <a:endParaRPr lang="en-US" sz="6600" dirty="0"/>
          </a:p>
        </p:txBody>
      </p:sp>
      <p:sp>
        <p:nvSpPr>
          <p:cNvPr id="4" name="Text 2"/>
          <p:cNvSpPr txBox="1"/>
          <p:nvPr/>
        </p:nvSpPr>
        <p:spPr>
          <a:xfrm>
            <a:off x="640080" y="3474720"/>
            <a:ext cx="2377440" cy="731520"/>
          </a:xfrm>
          <a:prstGeom prst="rect">
            <a:avLst/>
          </a:prstGeom>
          <a:noFill/>
          <a:ln/>
        </p:spPr>
        <p:txBody>
          <a:bodyPr wrap="square" lIns="0" tIns="0" rIns="0" bIns="0" rtlCol="0" anchor="t"/>
          <a:lstStyle/>
          <a:p>
            <a:pPr indent="0" marL="0">
              <a:buNone/>
            </a:pPr>
            <a:r>
              <a:rPr lang="en-US" sz="1700" dirty="0">
                <a:solidFill>
                  <a:srgbClr val="E6E2D3"/>
                </a:solidFill>
                <a:latin typeface="Calibri" pitchFamily="34" charset="0"/>
                <a:ea typeface="Calibri" pitchFamily="34" charset="-122"/>
                <a:cs typeface="Calibri" pitchFamily="34" charset="-120"/>
              </a:rPr>
              <a:t>espèces documentées</a:t>
            </a:r>
            <a:endParaRPr lang="en-US" sz="1700" dirty="0"/>
          </a:p>
        </p:txBody>
      </p:sp>
      <p:sp>
        <p:nvSpPr>
          <p:cNvPr id="5" name="Text 3"/>
          <p:cNvSpPr txBox="1"/>
          <p:nvPr/>
        </p:nvSpPr>
        <p:spPr>
          <a:xfrm>
            <a:off x="3429000" y="2103120"/>
            <a:ext cx="2560320" cy="1280160"/>
          </a:xfrm>
          <a:prstGeom prst="rect">
            <a:avLst/>
          </a:prstGeom>
          <a:noFill/>
          <a:ln/>
        </p:spPr>
        <p:txBody>
          <a:bodyPr wrap="square" lIns="0" tIns="0" rIns="0" bIns="0" rtlCol="0" anchor="ctr"/>
          <a:lstStyle/>
          <a:p>
            <a:pPr indent="0" marL="0">
              <a:buNone/>
            </a:pPr>
            <a:r>
              <a:rPr lang="en-US" sz="6600" b="1" dirty="0">
                <a:solidFill>
                  <a:srgbClr val="D9C48E"/>
                </a:solidFill>
                <a:latin typeface="Cambria" pitchFamily="34" charset="0"/>
                <a:ea typeface="Cambria" pitchFamily="34" charset="-122"/>
                <a:cs typeface="Cambria" pitchFamily="34" charset="-120"/>
              </a:rPr>
              <a:t>40</a:t>
            </a:r>
            <a:endParaRPr lang="en-US" sz="6600" dirty="0"/>
          </a:p>
        </p:txBody>
      </p:sp>
      <p:sp>
        <p:nvSpPr>
          <p:cNvPr id="6" name="Text 4"/>
          <p:cNvSpPr txBox="1"/>
          <p:nvPr/>
        </p:nvSpPr>
        <p:spPr>
          <a:xfrm>
            <a:off x="3429000" y="3474720"/>
            <a:ext cx="2377440" cy="731520"/>
          </a:xfrm>
          <a:prstGeom prst="rect">
            <a:avLst/>
          </a:prstGeom>
          <a:noFill/>
          <a:ln/>
        </p:spPr>
        <p:txBody>
          <a:bodyPr wrap="square" lIns="0" tIns="0" rIns="0" bIns="0" rtlCol="0" anchor="t"/>
          <a:lstStyle/>
          <a:p>
            <a:pPr indent="0" marL="0">
              <a:buNone/>
            </a:pPr>
            <a:r>
              <a:rPr lang="en-US" sz="1700" dirty="0">
                <a:solidFill>
                  <a:srgbClr val="E6E2D3"/>
                </a:solidFill>
                <a:latin typeface="Calibri" pitchFamily="34" charset="0"/>
                <a:ea typeface="Calibri" pitchFamily="34" charset="-122"/>
                <a:cs typeface="Calibri" pitchFamily="34" charset="-120"/>
              </a:rPr>
              <a:t>maladies modélisées</a:t>
            </a:r>
            <a:endParaRPr lang="en-US" sz="1700" dirty="0"/>
          </a:p>
        </p:txBody>
      </p:sp>
      <p:sp>
        <p:nvSpPr>
          <p:cNvPr id="7" name="Text 5"/>
          <p:cNvSpPr txBox="1"/>
          <p:nvPr/>
        </p:nvSpPr>
        <p:spPr>
          <a:xfrm>
            <a:off x="6217920" y="2103120"/>
            <a:ext cx="2560320" cy="1280160"/>
          </a:xfrm>
          <a:prstGeom prst="rect">
            <a:avLst/>
          </a:prstGeom>
          <a:noFill/>
          <a:ln/>
        </p:spPr>
        <p:txBody>
          <a:bodyPr wrap="square" lIns="0" tIns="0" rIns="0" bIns="0" rtlCol="0" anchor="ctr"/>
          <a:lstStyle/>
          <a:p>
            <a:pPr indent="0" marL="0">
              <a:buNone/>
            </a:pPr>
            <a:r>
              <a:rPr lang="en-US" sz="6600" b="1" dirty="0">
                <a:solidFill>
                  <a:srgbClr val="D9C48E"/>
                </a:solidFill>
                <a:latin typeface="Cambria" pitchFamily="34" charset="0"/>
                <a:ea typeface="Cambria" pitchFamily="34" charset="-122"/>
                <a:cs typeface="Cambria" pitchFamily="34" charset="-120"/>
              </a:rPr>
              <a:t>7 j</a:t>
            </a:r>
            <a:endParaRPr lang="en-US" sz="6600" dirty="0"/>
          </a:p>
        </p:txBody>
      </p:sp>
      <p:sp>
        <p:nvSpPr>
          <p:cNvPr id="8" name="Text 6"/>
          <p:cNvSpPr txBox="1"/>
          <p:nvPr/>
        </p:nvSpPr>
        <p:spPr>
          <a:xfrm>
            <a:off x="6217920" y="3474720"/>
            <a:ext cx="2377440" cy="731520"/>
          </a:xfrm>
          <a:prstGeom prst="rect">
            <a:avLst/>
          </a:prstGeom>
          <a:noFill/>
          <a:ln/>
        </p:spPr>
        <p:txBody>
          <a:bodyPr wrap="square" lIns="0" tIns="0" rIns="0" bIns="0" rtlCol="0" anchor="t"/>
          <a:lstStyle/>
          <a:p>
            <a:pPr indent="0" marL="0">
              <a:buNone/>
            </a:pPr>
            <a:r>
              <a:rPr lang="en-US" sz="1700" dirty="0">
                <a:solidFill>
                  <a:srgbClr val="E6E2D3"/>
                </a:solidFill>
                <a:latin typeface="Calibri" pitchFamily="34" charset="0"/>
                <a:ea typeface="Calibri" pitchFamily="34" charset="-122"/>
                <a:cs typeface="Calibri" pitchFamily="34" charset="-120"/>
              </a:rPr>
              <a:t>de prévisions météo</a:t>
            </a:r>
            <a:endParaRPr lang="en-US" sz="1700" dirty="0"/>
          </a:p>
        </p:txBody>
      </p:sp>
      <p:sp>
        <p:nvSpPr>
          <p:cNvPr id="9" name="Text 7"/>
          <p:cNvSpPr txBox="1"/>
          <p:nvPr/>
        </p:nvSpPr>
        <p:spPr>
          <a:xfrm>
            <a:off x="9006840" y="2103120"/>
            <a:ext cx="2560320" cy="1280160"/>
          </a:xfrm>
          <a:prstGeom prst="rect">
            <a:avLst/>
          </a:prstGeom>
          <a:noFill/>
          <a:ln/>
        </p:spPr>
        <p:txBody>
          <a:bodyPr wrap="square" lIns="0" tIns="0" rIns="0" bIns="0" rtlCol="0" anchor="ctr"/>
          <a:lstStyle/>
          <a:p>
            <a:pPr indent="0" marL="0">
              <a:buNone/>
            </a:pPr>
            <a:r>
              <a:rPr lang="en-US" sz="6600" b="1" dirty="0">
                <a:solidFill>
                  <a:srgbClr val="D9C48E"/>
                </a:solidFill>
                <a:latin typeface="Cambria" pitchFamily="34" charset="0"/>
                <a:ea typeface="Cambria" pitchFamily="34" charset="-122"/>
                <a:cs typeface="Cambria" pitchFamily="34" charset="-120"/>
              </a:rPr>
              <a:t>0</a:t>
            </a:r>
            <a:endParaRPr lang="en-US" sz="6600" dirty="0"/>
          </a:p>
        </p:txBody>
      </p:sp>
      <p:sp>
        <p:nvSpPr>
          <p:cNvPr id="10" name="Text 8"/>
          <p:cNvSpPr txBox="1"/>
          <p:nvPr/>
        </p:nvSpPr>
        <p:spPr>
          <a:xfrm>
            <a:off x="9006840" y="3474720"/>
            <a:ext cx="2377440" cy="731520"/>
          </a:xfrm>
          <a:prstGeom prst="rect">
            <a:avLst/>
          </a:prstGeom>
          <a:noFill/>
          <a:ln/>
        </p:spPr>
        <p:txBody>
          <a:bodyPr wrap="square" lIns="0" tIns="0" rIns="0" bIns="0" rtlCol="0" anchor="t"/>
          <a:lstStyle/>
          <a:p>
            <a:pPr indent="0" marL="0">
              <a:buNone/>
            </a:pPr>
            <a:r>
              <a:rPr lang="en-US" sz="1700" dirty="0">
                <a:solidFill>
                  <a:srgbClr val="E6E2D3"/>
                </a:solidFill>
                <a:latin typeface="Calibri" pitchFamily="34" charset="0"/>
                <a:ea typeface="Calibri" pitchFamily="34" charset="-122"/>
                <a:cs typeface="Calibri" pitchFamily="34" charset="-120"/>
              </a:rPr>
              <a:t>serveur, compte ou abonnement</a:t>
            </a:r>
            <a:endParaRPr lang="en-US" sz="1700" dirty="0"/>
          </a:p>
        </p:txBody>
      </p:sp>
      <p:sp>
        <p:nvSpPr>
          <p:cNvPr id="11" name="Text 9"/>
          <p:cNvSpPr txBox="1"/>
          <p:nvPr/>
        </p:nvSpPr>
        <p:spPr>
          <a:xfrm>
            <a:off x="640080" y="5120640"/>
            <a:ext cx="10881360" cy="457200"/>
          </a:xfrm>
          <a:prstGeom prst="rect">
            <a:avLst/>
          </a:prstGeom>
          <a:noFill/>
          <a:ln/>
        </p:spPr>
        <p:txBody>
          <a:bodyPr wrap="square" lIns="0" tIns="0" rIns="0" bIns="0" rtlCol="0" anchor="ctr"/>
          <a:lstStyle/>
          <a:p>
            <a:pPr indent="0" marL="0">
              <a:buNone/>
            </a:pPr>
            <a:r>
              <a:rPr lang="en-US" sz="1600" i="1" dirty="0">
                <a:solidFill>
                  <a:srgbClr val="A8A48F"/>
                </a:solidFill>
                <a:latin typeface="Calibri" pitchFamily="34" charset="0"/>
                <a:ea typeface="Calibri" pitchFamily="34" charset="-122"/>
                <a:cs typeface="Calibri" pitchFamily="34" charset="-120"/>
              </a:rPr>
              <a:t>≈ 180 Ko · fonctionne hors-ligne · ~15 Ko de données par actualisation météo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2026-09-30T07:57:21Z</dcterms:created>
  <dcterms:modified xsi:type="dcterms:W3CDTF">2026-09-30T07:57:21Z</dcterms:modified>
</cp:coreProperties>
</file>