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6B6A5C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6B6A5C"/>
                </a:solidFill>
                <a:latin typeface="Calibri"/>
              </a:rPr>
              <a:t>Contribution maximale au score (points)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 max</c:v>
                </c:pt>
              </c:strCache>
            </c:strRef>
          </c:tx>
          <c:spPr>
            <a:solidFill>
              <a:srgbClr val="4A5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226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Température optimale</c:v>
                  </c:pt>
                  <c:pt idx="1">
                    <c:v>Humidité relative critique</c:v>
                  </c:pt>
                  <c:pt idx="2">
                    <c:v>Humectation (eau libre)</c:v>
                  </c:pt>
                  <c:pt idx="3">
                    <c:v>Pluie &gt; 5 mm</c:v>
                  </c:pt>
                  <c:pt idx="4">
                    <c:v>Pression inoculaire (j-6 → j0)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226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226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6B6A5C"/>
                </a:solidFill>
                <a:latin typeface="Arial"/>
              </a:defRPr>
            </a:pPr>
            <a:r>
              <a:rPr sz="1400" b="0" i="0" u="none" strike="noStrike">
                <a:solidFill>
                  <a:srgbClr val="6B6A5C"/>
                </a:solidFill>
                <a:latin typeface="Arial"/>
              </a:rPr>
              <a:t>Nombre d'espèces par famille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Espèces</c:v>
                </c:pt>
              </c:strCache>
            </c:strRef>
          </c:tx>
          <c:spPr>
            <a:solidFill>
              <a:srgbClr val="4A5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226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Choux &amp; brassicacées</c:v>
                  </c:pt>
                  <c:pt idx="1">
                    <c:v>Légumineuses</c:v>
                  </c:pt>
                  <c:pt idx="2">
                    <c:v>Légumes-feuilles</c:v>
                  </c:pt>
                  <c:pt idx="3">
                    <c:v>Racines</c:v>
                  </c:pt>
                  <c:pt idx="4">
                    <c:v>Autres</c:v>
                  </c:pt>
                  <c:pt idx="5">
                    <c:v>Cucurbitacées</c:v>
                  </c:pt>
                  <c:pt idx="6">
                    <c:v>Solanacées</c:v>
                  </c:pt>
                  <c:pt idx="7">
                    <c:v>Alliacées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226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226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un outil gratuit, sans compte, qui tient dans la poche du maraîcher. Présenter le contexte en une phrase : maraîchage bio, pépinière, adaptation au changement climatique.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Ancrer dans l'approche territoriale et environnementale : réduire les intrants (cuivre notamment) en ciblant les fenêtres de risque réelles. À compléter avec des chiffres locaux (pertes, nb de fermes maraîchères du territoire).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navigation par onglets. Insister sur la simplicité : pas de compte, pas d'installation obligatoire.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que l'outil ne mesure pas, il estime à partir de prévisions. La pression inoculaire des 6 jours passés est aussi prise en compte (bonus décroissant).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fort pour un public scientifique : l'algorithme est déterministe, lisible, et chaque score est justifié. Seuils volontairement prudents.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Vérifier les valeurs de l'exemple en direct dans l'app. Les densités de plantation (bio-intensif vs Agrosemens) sont dans les fiches espèces.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une fiche en démonstration (ex. tomate). Souligner les sources des préconisations.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respiration : laisser les chiffres parler.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Lien possible avec la dimension socio-économique : accessibilité pour les petites fermes, reproductibilité, low-tech.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Transparence méthodologique. Piste de validation : confronter les alertes aux observations de terrain sur une saison.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Mettre en avant l'extension pépinière (fruitiers insolites, vivaces), cohérente avec l'activité propre. Préciser le calendrier envisagé.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/ démonstration en direct. Préparer un QR code vers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914400" cy="914400"/>
          </a:xfrm>
          <a:prstGeom prst="ellipse">
            <a:avLst/>
          </a:prstGeom>
          <a:solidFill>
            <a:srgbClr val="B8892E"/>
          </a:solidFill>
          <a:ln w="12700">
            <a:solidFill>
              <a:srgbClr val="B8892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96012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9202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 d'aide</a:t>
            </a:r>
            <a:pPr indent="0" marL="0">
              <a:buNone/>
            </a:pPr>
            <a:r>
              <a:rPr lang="en-US" sz="4000" i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au maraîchage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C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Anticiper les maladies des cultures liées aux aléas climatiques — une application de poche pour le maraîchage biologique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Élodie Plassin · Présentation du logiciel · Brouillon · septembre 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705088" y="749808"/>
            <a:ext cx="2752344" cy="5358384"/>
          </a:xfrm>
          <a:prstGeom prst="roundRect">
            <a:avLst>
              <a:gd name="adj" fmla="val 6645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/tmp/claude-0/-home-user-meteo-rique-maraichage/b1532ef0-43df-5182-881a-fa5cd25c2188/scratchpad/shot-espec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822960"/>
            <a:ext cx="260604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constat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terrain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965960"/>
            <a:ext cx="777240" cy="7772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16027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29718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Aléas climatiques accrus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Épisodes humides et chaleurs précoces favorisent mildiou, oïdium, botrytis… souvent détectés trop tard.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343400" y="16459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65960"/>
            <a:ext cx="777240" cy="7772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16027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29718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 d'aide coûteux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de terrain et abonnements (type Mileos®) peu accessibles aux petites fermes diversifiées.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46720" y="16459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66760" y="1965960"/>
            <a:ext cx="777240" cy="7772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070" y="216027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9718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Savoirs dispersés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7490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techniques éparpillées entre GRAB, FNAB, INRAE, ITAB… difficiles à mobiliser au champ.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0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: passer d'une lutte curative à une protection préventive raisonnée, à l'échelle de la planche.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application,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modules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202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1031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Météo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24231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Prévisions Open-Meteo à 7 jours pour la parcelle (GPS ou commune).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0" y="160020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46320" y="19202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1031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6072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maladies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760720" y="24231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risque jour par jour pour 40 maladies, croisé avec les cultures.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384048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" y="416052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343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828800" y="4160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Fertilisation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828800" y="4663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N·P·K et compost ramenés à la surface de la planche.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4572000" y="3840480"/>
            <a:ext cx="36576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846320" y="416052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4343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60720" y="4160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Fiches espèces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760720" y="4663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légumes : semis, densités, maladies, ravageurs, biocontrôle.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9070848" y="1207008"/>
            <a:ext cx="2706624" cy="5266944"/>
          </a:xfrm>
          <a:prstGeom prst="roundRect">
            <a:avLst>
              <a:gd name="adj" fmla="val 6757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/tmp/claude-0/-home-user-meteo-rique-maraichage/b1532ef0-43df-5182-881a-fa5cd25c2188/scratchpad/shot-mete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280160"/>
            <a:ext cx="25603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naissent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alertes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88720" y="1828800"/>
            <a:ext cx="914400" cy="91440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05740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240280" y="2286000"/>
            <a:ext cx="548640" cy="0"/>
          </a:xfrm>
          <a:prstGeom prst="line">
            <a:avLst/>
          </a:prstGeom>
          <a:noFill/>
          <a:ln w="25400">
            <a:solidFill>
              <a:srgbClr val="B8892E"/>
            </a:solidFill>
            <a:prstDash val="solid"/>
            <a:tailEnd type="triangle"/>
          </a:ln>
        </p:spPr>
      </p:sp>
      <p:sp>
        <p:nvSpPr>
          <p:cNvPr id="6" name="Text 3"/>
          <p:cNvSpPr txBox="1"/>
          <p:nvPr/>
        </p:nvSpPr>
        <p:spPr>
          <a:xfrm>
            <a:off x="59436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Localisation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ou commune, stockée sur l'appareil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29000" y="1828800"/>
            <a:ext cx="914400" cy="91440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057400"/>
            <a:ext cx="457200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80560" y="2286000"/>
            <a:ext cx="548640" cy="0"/>
          </a:xfrm>
          <a:prstGeom prst="line">
            <a:avLst/>
          </a:prstGeom>
          <a:noFill/>
          <a:ln w="25400">
            <a:solidFill>
              <a:srgbClr val="B8892E"/>
            </a:solidFill>
            <a:prstDash val="solid"/>
            <a:tailEnd type="triangle"/>
          </a:ln>
        </p:spPr>
      </p:sp>
      <p:sp>
        <p:nvSpPr>
          <p:cNvPr id="11" name="Text 7"/>
          <p:cNvSpPr txBox="1"/>
          <p:nvPr/>
        </p:nvSpPr>
        <p:spPr>
          <a:xfrm>
            <a:off x="283464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Prévisions 7 j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88036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T°, humidité horaire, pluie (Open-Meteo)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669280" y="1828800"/>
            <a:ext cx="914400" cy="91440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2057400"/>
            <a:ext cx="457200" cy="4572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720840" y="2286000"/>
            <a:ext cx="548640" cy="0"/>
          </a:xfrm>
          <a:prstGeom prst="line">
            <a:avLst/>
          </a:prstGeom>
          <a:noFill/>
          <a:ln w="25400">
            <a:solidFill>
              <a:srgbClr val="B8892E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07492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Indicateurs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HR ≥ 85/90/95 %, humectation, cumul pluie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909560" y="1828800"/>
            <a:ext cx="914400" cy="91440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057400"/>
            <a:ext cx="457200" cy="4572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961120" y="2286000"/>
            <a:ext cx="548640" cy="0"/>
          </a:xfrm>
          <a:prstGeom prst="line">
            <a:avLst/>
          </a:prstGeom>
          <a:noFill/>
          <a:ln w="25400">
            <a:solidFill>
              <a:srgbClr val="B8892E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731520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Seuils maladies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6092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profils : T° optimale, HR critique, eau libre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10149840" y="1828800"/>
            <a:ext cx="914400" cy="914400"/>
          </a:xfrm>
          <a:prstGeom prst="ellipse">
            <a:avLst/>
          </a:prstGeom>
          <a:solidFill>
            <a:srgbClr val="A0472A"/>
          </a:solidFill>
          <a:ln w="12700">
            <a:solidFill>
              <a:srgbClr val="A0472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8440" y="2057400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555480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Score 0–100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faible / modéré / élevé + actions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14400" y="48920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— Mildiou de la tomate (Phytophthora infestans) : </a:t>
            </a:r>
            <a:pPr indent="0" marL="0">
              <a:buNone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T° 17–20 °C + HR &gt; 90 % pendant &gt; 12 h + feuillage humide ≥ 2 h → risque élevé, intervention préventive au cuivre sous 48 h.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score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 et explicable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37160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98080" y="15544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680960" y="173736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A0472A"/>
          </a:solidFill>
          <a:ln w="12700">
            <a:solidFill>
              <a:srgbClr val="A047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70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235440" y="17556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élevé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235440" y="21671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Intervenir (préventif)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98080" y="297180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0" y="315468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B8892E"/>
          </a:solidFill>
          <a:ln w="12700">
            <a:solidFill>
              <a:srgbClr val="B889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– 69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3172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modéré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235440" y="35844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Surveiller, préparer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8080" y="438912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680960" y="457200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4A5E2E"/>
          </a:solidFill>
          <a:ln w="12700">
            <a:solidFill>
              <a:srgbClr val="4A5E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0" y="45720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45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45902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faible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d'action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alerte affiche ses raisons (ex. « T° 18 °C optimale · HR ≥ 90 % 14 h · 8 mm pluie »). Oïdium : bonus alternance sec/humide, malus si feuillage mouillé.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Calculateur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fertilisation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49808" y="1207008"/>
            <a:ext cx="2706624" cy="5266944"/>
          </a:xfrm>
          <a:prstGeom prst="roundRect">
            <a:avLst>
              <a:gd name="adj" fmla="val 6757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meteo-rique-maraichage/b1532ef0-43df-5182-881a-fa5cd25c2188/scratchpad/shot-calc-f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2560320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références hectare à la planche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201168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de l'espèce parmi 49 cultures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en planche (L × l) ou surface libre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N · P · K et compost convertis automatiquement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courge sur une planche de 30 m × 1 m (réf. N 120 / P 60 / K 100 U/ha ; 30–40 t/ha)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06240" y="4069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206240" y="4251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3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0,36 kg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Azote (N)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4069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035040" y="4251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3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0,18 kg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Phosphore (P)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863840" y="4069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4251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3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0,30 kg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 (K)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692640" y="4069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692640" y="4251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3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90–120 kg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692640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Fumier composté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fiches espèces,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familles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37160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06440" y="14630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645920"/>
            <a:ext cx="365760" cy="365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20840" y="1463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Semis &amp; plantation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720840" y="184708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de semis, profondeur, densités bio-intensif / Agrosemens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806440" y="28346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301752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720840" y="2834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Fertilisation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720840" y="321868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N·P·K, compost, commentaires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5806440" y="4206240"/>
            <a:ext cx="731520" cy="73152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38912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720840" y="4206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Maladies &amp; ravageurs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6720840" y="459028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biocontrôle et pratiques culturales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9573768" y="1207008"/>
            <a:ext cx="2249424" cy="4352544"/>
          </a:xfrm>
          <a:prstGeom prst="roundRect">
            <a:avLst>
              <a:gd name="adj" fmla="val 8130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/tmp/claude-0/-home-user-meteo-rique-maraichage/b1532ef0-43df-5182-881a-fa5cd25c2188/scratchpad/shot-espe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280160"/>
            <a:ext cx="2103120" cy="4206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008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par espèce ou maladie · filtres par famille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L'outil </a:t>
            </a:r>
            <a:pPr indent="0" marL="0">
              <a:buNone/>
            </a:pPr>
            <a:r>
              <a:rPr lang="en-US" sz="3600" i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chiffres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74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espèces documentées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429000" y="21031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3474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maladies modélisées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1031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j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3474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prévisions météo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21031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9006840" y="3474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serveur, compte ou abonnement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A4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180 Ko · fonctionne hors-ligne · ~15 Ko de données par actualisation météo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Sobriété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numérique par conception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874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345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fichier HTML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statique, sans build, hébergée gratuitement sur GitHub Pages.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43400" y="1600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7720" y="1874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0345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Hors-ligne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et calculateurs disponibles sans réseau, au champ.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46720" y="1600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21040" y="1874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203454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9828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(PWA)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à l'écran d'accueil, comme une application native.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40080" y="3886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" y="432054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206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privées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14400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conservée uniquement sur l'appareil (localStorage).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343400" y="3886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17720" y="4160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432054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4960" y="4206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empreinte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base de données, requêtes météo minimales.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8046720" y="3886200"/>
            <a:ext cx="34290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321040" y="4160520"/>
            <a:ext cx="640080" cy="64008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060" y="432054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98280" y="4206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 (MIT)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ouvert, réutilisable par d'autres territoires.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limites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30352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rgbClr val="4A5E2E"/>
          </a:solidFill>
          <a:ln w="12700">
            <a:solidFill>
              <a:srgbClr val="4A5E2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83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Références mobilisées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56032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 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AgroBio Bretagne, GRAB, GAB, FNAB, Agrosemens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Maladies &amp; climat 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INRAE Ephytia, ITAB, ARVALIS, MAB16 2024, GECO Ecophytopic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Météo 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(gratuit, sans clé API)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0352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D5C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rgbClr val="A0472A"/>
          </a:solidFill>
          <a:ln w="12700">
            <a:solidFill>
              <a:srgbClr val="A0472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1783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connues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256032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Humidité mesurée à 2 m, pas au feuillage : humectation estimée, non mesurée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 (CMV, TSWV, TMV…) sans seuils climatiques : pas d'alerte automatique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Seuils volontairement prudents : aide à la décision, pas prescription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 </a:t>
            </a:r>
            <a:pPr indent="0" marL="0">
              <a:buNone/>
            </a:pPr>
            <a:r>
              <a:rPr lang="en-US" sz="3600" i="1" dirty="0">
                <a:solidFill>
                  <a:srgbClr val="A0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d'évolution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417320" y="1828800"/>
            <a:ext cx="1005840" cy="1005840"/>
          </a:xfrm>
          <a:prstGeom prst="ellipse">
            <a:avLst/>
          </a:prstGeom>
          <a:solidFill>
            <a:srgbClr val="A0472A"/>
          </a:solidFill>
          <a:ln w="12700">
            <a:solidFill>
              <a:srgbClr val="A047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208026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Fruitiers insolites &amp; légumes vivaces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77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Étendre les fiches à la pépinière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06240" y="1828800"/>
            <a:ext cx="1005840" cy="10058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20802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2900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Calendrier de semis local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3977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saison et zone climatique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995160" y="1828800"/>
            <a:ext cx="1005840" cy="10058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620" y="20802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Carnet d'observations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977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Parcelles, dates, photos de terrain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9784080" y="1828800"/>
            <a:ext cx="1005840" cy="1005840"/>
          </a:xfrm>
          <a:prstGeom prst="ellipse">
            <a:avLst/>
          </a:prstGeom>
          <a:solidFill>
            <a:srgbClr val="2B3A1F"/>
          </a:solidFill>
          <a:ln w="12700">
            <a:solidFill>
              <a:srgbClr val="2B3A1F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5540" y="208026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06840" y="31089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Historique des alertes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9006840" y="3977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Comparaisons inter-saisons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0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discuter : partenariats (GAB, lycées agricoles, collectivités), tests utilisateurs, validation agronomique.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914400" cy="914400"/>
          </a:xfrm>
          <a:prstGeom prst="ellipse">
            <a:avLst/>
          </a:prstGeom>
          <a:solidFill>
            <a:srgbClr val="B8892E"/>
          </a:solidFill>
          <a:ln w="12700">
            <a:solidFill>
              <a:srgbClr val="B8892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0515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1031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Prévenir plutôt </a:t>
            </a:r>
            <a:pPr indent="0" marL="0">
              <a:buNone/>
            </a:pPr>
            <a:r>
              <a:rPr lang="en-US" sz="4000" i="1" dirty="0">
                <a:solidFill>
                  <a:srgbClr val="D9C4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guérir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10896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C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outil libre, sobre et fondé sur des références scientifiques, au service des maraîchers et de la transition agroécologique des territoires.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54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Essayer l'application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9C4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elod-oss.github.io/meteo-rique-maraichage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705088" y="749808"/>
            <a:ext cx="2752344" cy="5358384"/>
          </a:xfrm>
          <a:prstGeom prst="roundRect">
            <a:avLst>
              <a:gd name="adj" fmla="val 6645"/>
            </a:avLst>
          </a:prstGeom>
          <a:solidFill>
            <a:srgbClr val="1A2213"/>
          </a:solidFill>
          <a:ln w="12700">
            <a:solidFill>
              <a:srgbClr val="1A221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/tmp/claude-0/-home-user-meteo-rique-maraichage/b1532ef0-43df-5182-881a-fa5cd25c2188/scratchpad/shot-calc-f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822960"/>
            <a:ext cx="260604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 d'aide au maraîchage</dc:title>
  <dc:subject>PptxGenJS Presentation</dc:subject>
  <dc:creator>Élodie Plassin</dc:creator>
  <cp:lastModifiedBy>Élodie Plassin</cp:lastModifiedBy>
  <cp:revision>1</cp:revision>
  <dcterms:created xsi:type="dcterms:W3CDTF">2026-09-30T07:12:28Z</dcterms:created>
  <dcterms:modified xsi:type="dcterms:W3CDTF">2026-09-30T07:12:28Z</dcterms:modified>
</cp:coreProperties>
</file>